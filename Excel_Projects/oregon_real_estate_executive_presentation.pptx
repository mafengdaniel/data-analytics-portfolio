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1097280" y="2011680"/>
            <a:ext cx="7315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875520" cy="2926080"/>
          </a:xfrm>
          <a:prstGeom prst="rect">
            <a:avLst/>
          </a:prstGeom>
          <a:noFill/>
        </p:spPr>
        <p:txBody>
          <a:bodyPr wrap="square">
            <a:spAutoFit/>
          </a:bodyPr>
          <a:lstStyle/>
          <a:p>
            <a:pPr>
              <a:defRPr sz="3200" b="1">
                <a:solidFill>
                  <a:srgbClr val="FFFFFF"/>
                </a:solidFill>
                <a:latin typeface="Segoe UI"/>
              </a:defRPr>
            </a:pPr>
            <a:r>
              <a:t>OREGON REAL ESTATE VALUATION &amp; MARKET INTELLIGENCE</a:t>
            </a:r>
          </a:p>
          <a:p>
            <a:pPr>
              <a:spcBef>
                <a:spcPts val="1200"/>
              </a:spcBef>
              <a:defRPr sz="1800">
                <a:solidFill>
                  <a:srgbClr val="94A3B8"/>
                </a:solidFill>
                <a:latin typeface="Segoe UI"/>
              </a:defRPr>
            </a:pPr>
            <a:r>
              <a:t>Exploratory Analysis, Data Transformation, and Executive Presentation Dashboard</a:t>
            </a:r>
          </a:p>
          <a:p>
            <a:pPr>
              <a:spcBef>
                <a:spcPts val="2800"/>
              </a:spcBef>
              <a:defRPr sz="1400">
                <a:solidFill>
                  <a:srgbClr val="CBD5E1"/>
                </a:solidFill>
                <a:latin typeface="Segoe UI"/>
              </a:defRPr>
            </a:pPr>
            <a:r>
              <a:t>Author: Mafeng Daniel | Tool: Microsoft Excel (Power Query, Pivot Tables, Interactive 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Executive Project Overview</a:t>
            </a:r>
          </a:p>
          <a:p>
            <a:pPr>
              <a:spcBef>
                <a:spcPts val="400"/>
              </a:spcBef>
              <a:defRPr sz="1300">
                <a:solidFill>
                  <a:srgbClr val="64748B"/>
                </a:solidFill>
                <a:latin typeface="Segoe UI"/>
              </a:defRPr>
            </a:pPr>
            <a:r>
              <a:t>High-level summary of the Oregon 2026 residential and commercial property market</a:t>
            </a:r>
          </a:p>
        </p:txBody>
      </p:sp>
      <p:sp>
        <p:nvSpPr>
          <p:cNvPr id="3" name="Rectangle 2"/>
          <p:cNvSpPr/>
          <p:nvPr/>
        </p:nvSpPr>
        <p:spPr>
          <a:xfrm>
            <a:off x="731520" y="1645920"/>
            <a:ext cx="2468880" cy="16459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2103120" cy="1280160"/>
          </a:xfrm>
          <a:prstGeom prst="rect">
            <a:avLst/>
          </a:prstGeom>
          <a:noFill/>
        </p:spPr>
        <p:txBody>
          <a:bodyPr wrap="square">
            <a:spAutoFit/>
          </a:bodyPr>
          <a:lstStyle/>
          <a:p>
            <a:pPr>
              <a:defRPr sz="1000" b="1">
                <a:solidFill>
                  <a:srgbClr val="64748B"/>
                </a:solidFill>
                <a:latin typeface="Segoe UI"/>
              </a:defRPr>
            </a:pPr>
            <a:r>
              <a:t>TOTAL LISTING PORTFOLIO</a:t>
            </a:r>
          </a:p>
          <a:p>
            <a:pPr>
              <a:spcBef>
                <a:spcPts val="600"/>
              </a:spcBef>
              <a:defRPr sz="2400" b="1">
                <a:solidFill>
                  <a:srgbClr val="0F172A"/>
                </a:solidFill>
                <a:latin typeface="Segoe UI"/>
              </a:defRPr>
            </a:pPr>
            <a:r>
              <a:t>$6.78 Billion</a:t>
            </a:r>
          </a:p>
          <a:p>
            <a:pPr>
              <a:spcBef>
                <a:spcPts val="400"/>
              </a:spcBef>
              <a:defRPr sz="900">
                <a:solidFill>
                  <a:srgbClr val="64748B"/>
                </a:solidFill>
                <a:latin typeface="Segoe UI"/>
              </a:defRPr>
            </a:pPr>
            <a:r>
              <a:t>Cumulative valuation across 9,999 listings</a:t>
            </a:r>
          </a:p>
        </p:txBody>
      </p:sp>
      <p:sp>
        <p:nvSpPr>
          <p:cNvPr id="5" name="Rectangle 4"/>
          <p:cNvSpPr/>
          <p:nvPr/>
        </p:nvSpPr>
        <p:spPr>
          <a:xfrm>
            <a:off x="3474720" y="1645920"/>
            <a:ext cx="2468880" cy="16459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1828800"/>
            <a:ext cx="2103120" cy="1280160"/>
          </a:xfrm>
          <a:prstGeom prst="rect">
            <a:avLst/>
          </a:prstGeom>
          <a:noFill/>
        </p:spPr>
        <p:txBody>
          <a:bodyPr wrap="square">
            <a:spAutoFit/>
          </a:bodyPr>
          <a:lstStyle/>
          <a:p>
            <a:pPr>
              <a:defRPr sz="1000" b="1">
                <a:solidFill>
                  <a:srgbClr val="64748B"/>
                </a:solidFill>
                <a:latin typeface="Segoe UI"/>
              </a:defRPr>
            </a:pPr>
            <a:r>
              <a:t>ACTIVE PROPERTIES</a:t>
            </a:r>
          </a:p>
          <a:p>
            <a:pPr>
              <a:spcBef>
                <a:spcPts val="600"/>
              </a:spcBef>
              <a:defRPr sz="2400" b="1">
                <a:solidFill>
                  <a:srgbClr val="0F172A"/>
                </a:solidFill>
                <a:latin typeface="Segoe UI"/>
              </a:defRPr>
            </a:pPr>
            <a:r>
              <a:t>9,999 Units</a:t>
            </a:r>
          </a:p>
          <a:p>
            <a:pPr>
              <a:spcBef>
                <a:spcPts val="400"/>
              </a:spcBef>
              <a:defRPr sz="900">
                <a:solidFill>
                  <a:srgbClr val="64748B"/>
                </a:solidFill>
                <a:latin typeface="Segoe UI"/>
              </a:defRPr>
            </a:pPr>
            <a:r>
              <a:t>Comprehensive statewide Oregon coverage</a:t>
            </a:r>
          </a:p>
        </p:txBody>
      </p:sp>
      <p:sp>
        <p:nvSpPr>
          <p:cNvPr id="7" name="Rectangle 6"/>
          <p:cNvSpPr/>
          <p:nvPr/>
        </p:nvSpPr>
        <p:spPr>
          <a:xfrm>
            <a:off x="6217920" y="1645920"/>
            <a:ext cx="2468880" cy="16459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2103120" cy="1280160"/>
          </a:xfrm>
          <a:prstGeom prst="rect">
            <a:avLst/>
          </a:prstGeom>
          <a:noFill/>
        </p:spPr>
        <p:txBody>
          <a:bodyPr wrap="square">
            <a:spAutoFit/>
          </a:bodyPr>
          <a:lstStyle/>
          <a:p>
            <a:pPr>
              <a:defRPr sz="1000" b="1">
                <a:solidFill>
                  <a:srgbClr val="64748B"/>
                </a:solidFill>
                <a:latin typeface="Segoe UI"/>
              </a:defRPr>
            </a:pPr>
            <a:r>
              <a:t>AVERAGE MARKET PRICE</a:t>
            </a:r>
          </a:p>
          <a:p>
            <a:pPr>
              <a:spcBef>
                <a:spcPts val="600"/>
              </a:spcBef>
              <a:defRPr sz="2400" b="1">
                <a:solidFill>
                  <a:srgbClr val="0F172A"/>
                </a:solidFill>
                <a:latin typeface="Segoe UI"/>
              </a:defRPr>
            </a:pPr>
            <a:r>
              <a:t>$678,467</a:t>
            </a:r>
          </a:p>
          <a:p>
            <a:pPr>
              <a:spcBef>
                <a:spcPts val="400"/>
              </a:spcBef>
              <a:defRPr sz="900">
                <a:solidFill>
                  <a:srgbClr val="64748B"/>
                </a:solidFill>
                <a:latin typeface="Segoe UI"/>
              </a:defRPr>
            </a:pPr>
            <a:r>
              <a:t>Median driven by strong single family inventory</a:t>
            </a:r>
          </a:p>
        </p:txBody>
      </p:sp>
      <p:sp>
        <p:nvSpPr>
          <p:cNvPr id="9" name="Rectangle 8"/>
          <p:cNvSpPr/>
          <p:nvPr/>
        </p:nvSpPr>
        <p:spPr>
          <a:xfrm>
            <a:off x="8961120" y="1645920"/>
            <a:ext cx="2468880" cy="16459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828800"/>
            <a:ext cx="2103120" cy="1280160"/>
          </a:xfrm>
          <a:prstGeom prst="rect">
            <a:avLst/>
          </a:prstGeom>
          <a:noFill/>
        </p:spPr>
        <p:txBody>
          <a:bodyPr wrap="square">
            <a:spAutoFit/>
          </a:bodyPr>
          <a:lstStyle/>
          <a:p>
            <a:pPr>
              <a:defRPr sz="1000" b="1">
                <a:solidFill>
                  <a:srgbClr val="64748B"/>
                </a:solidFill>
                <a:latin typeface="Segoe UI"/>
              </a:defRPr>
            </a:pPr>
            <a:r>
              <a:t>AVERAGE PRICE / SQFT</a:t>
            </a:r>
          </a:p>
          <a:p>
            <a:pPr>
              <a:spcBef>
                <a:spcPts val="600"/>
              </a:spcBef>
              <a:defRPr sz="2400" b="1">
                <a:solidFill>
                  <a:srgbClr val="0F172A"/>
                </a:solidFill>
                <a:latin typeface="Segoe UI"/>
              </a:defRPr>
            </a:pPr>
            <a:r>
              <a:t>$365.74</a:t>
            </a:r>
          </a:p>
          <a:p>
            <a:pPr>
              <a:spcBef>
                <a:spcPts val="400"/>
              </a:spcBef>
              <a:defRPr sz="900">
                <a:solidFill>
                  <a:srgbClr val="64748B"/>
                </a:solidFill>
                <a:latin typeface="Segoe UI"/>
              </a:defRPr>
            </a:pPr>
            <a:r>
              <a:t>Benchmark metric across finished living space</a:t>
            </a:r>
          </a:p>
        </p:txBody>
      </p:sp>
      <p:sp>
        <p:nvSpPr>
          <p:cNvPr id="11" name="Rectangle 10"/>
          <p:cNvSpPr/>
          <p:nvPr/>
        </p:nvSpPr>
        <p:spPr>
          <a:xfrm>
            <a:off x="731520" y="3566160"/>
            <a:ext cx="10698480" cy="26517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49039"/>
            <a:ext cx="10149840" cy="2286000"/>
          </a:xfrm>
          <a:prstGeom prst="rect">
            <a:avLst/>
          </a:prstGeom>
          <a:noFill/>
        </p:spPr>
        <p:txBody>
          <a:bodyPr wrap="square">
            <a:spAutoFit/>
          </a:bodyPr>
          <a:lstStyle/>
          <a:p>
            <a:pPr>
              <a:defRPr sz="1600" b="1">
                <a:solidFill>
                  <a:srgbClr val="0F172A"/>
                </a:solidFill>
                <a:latin typeface="Segoe UI"/>
              </a:defRPr>
            </a:pPr>
            <a:r>
              <a:t>Commercial Analytics Objective</a:t>
            </a:r>
          </a:p>
          <a:p>
            <a:pPr>
              <a:spcBef>
                <a:spcPts val="800"/>
              </a:spcBef>
              <a:defRPr sz="1200">
                <a:solidFill>
                  <a:srgbClr val="1E293B"/>
                </a:solidFill>
                <a:latin typeface="Segoe UI"/>
              </a:defRPr>
            </a:pPr>
            <a:r>
              <a:t>This end-to-end commercial intelligence project ingests raw, unstandardized statewide property records and converts them into an executive decision model. The workflow addresses ten distinct strategic questions formulated by institutional investors and regional residential developers.</a:t>
            </a:r>
          </a:p>
          <a:p>
            <a:pPr>
              <a:spcBef>
                <a:spcPts val="800"/>
              </a:spcBef>
              <a:defRPr sz="1100">
                <a:solidFill>
                  <a:srgbClr val="1E293B"/>
                </a:solidFill>
                <a:latin typeface="Segoe UI"/>
              </a:defRPr>
            </a:pPr>
            <a:r>
              <a:t>Key Deliverables Established in Excel:</a:t>
            </a:r>
            <a:br/>
            <a:r>
              <a:t>1. Data Cleansing: Normalization of missing values, string case inconsistencies, and non-standardized garage flags.</a:t>
            </a:r>
            <a:br/>
            <a:r>
              <a:t>2. Metric Engineering: Derivation of Price per Square Foot and Era/Decade categorization for temporal trend analysis.</a:t>
            </a:r>
            <a:br/>
            <a:r>
              <a:t>3. Dynamic Pivot Engine: 10 structured Pivot Tables isolating unit counts, total volumes, and multi-variable averages.</a:t>
            </a:r>
            <a:br/>
            <a:r>
              <a:t>4. Presentation Dashboard: Fully linked interactive sheet featuring 10 charts, KPI blocks, and interactive slicers.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Data Cleansing and Pipeline Engineering</a:t>
            </a:r>
          </a:p>
          <a:p>
            <a:pPr>
              <a:spcBef>
                <a:spcPts val="400"/>
              </a:spcBef>
              <a:defRPr sz="1300">
                <a:solidFill>
                  <a:srgbClr val="64748B"/>
                </a:solidFill>
                <a:latin typeface="Segoe UI"/>
              </a:defRPr>
            </a:pPr>
            <a:r>
              <a:t>Transforming 10,000 raw records into institutional-grade analytical tables</a:t>
            </a:r>
          </a:p>
        </p:txBody>
      </p:sp>
      <p:sp>
        <p:nvSpPr>
          <p:cNvPr id="3" name="Rectangle 2"/>
          <p:cNvSpPr/>
          <p:nvPr/>
        </p:nvSpPr>
        <p:spPr>
          <a:xfrm>
            <a:off x="731520" y="1645920"/>
            <a:ext cx="512064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500" b="1">
                <a:solidFill>
                  <a:srgbClr val="B91C1C"/>
                </a:solidFill>
                <a:latin typeface="Segoe UI"/>
              </a:defRPr>
            </a:pPr>
            <a:r>
              <a:t>BEFORE: Raw Unprocessed Dataset ('dirty Data')</a:t>
            </a:r>
          </a:p>
          <a:p>
            <a:pPr>
              <a:spcBef>
                <a:spcPts val="1000"/>
              </a:spcBef>
              <a:defRPr sz="1100">
                <a:solidFill>
                  <a:srgbClr val="1E293B"/>
                </a:solidFill>
                <a:latin typeface="Segoe UI"/>
              </a:defRPr>
            </a:pPr>
            <a:r>
              <a:t>• Record Count: 10,000 rows across 12 unvalidated attributes.</a:t>
            </a:r>
          </a:p>
          <a:p>
            <a:pPr>
              <a:spcBef>
                <a:spcPts val="1000"/>
              </a:spcBef>
              <a:defRPr sz="1100">
                <a:solidFill>
                  <a:srgbClr val="1E293B"/>
                </a:solidFill>
                <a:latin typeface="Segoe UI"/>
              </a:defRPr>
            </a:pPr>
            <a:r>
              <a:t>• Inconsistent Categorization: 'single_family' snake_case mixed with title casing.</a:t>
            </a:r>
          </a:p>
          <a:p>
            <a:pPr>
              <a:spcBef>
                <a:spcPts val="1000"/>
              </a:spcBef>
              <a:defRPr sz="1100">
                <a:solidFill>
                  <a:srgbClr val="1E293B"/>
                </a:solidFill>
                <a:latin typeface="Segoe UI"/>
              </a:defRPr>
            </a:pPr>
            <a:r>
              <a:t>• Missing Numerical Values: Unhandled nulls across garage capacity, stories, and bathroom configurations.</a:t>
            </a:r>
          </a:p>
          <a:p>
            <a:pPr>
              <a:spcBef>
                <a:spcPts val="1000"/>
              </a:spcBef>
              <a:defRPr sz="1100">
                <a:solidFill>
                  <a:srgbClr val="1E293B"/>
                </a:solidFill>
                <a:latin typeface="Segoe UI"/>
              </a:defRPr>
            </a:pPr>
            <a:r>
              <a:t>• Unstandardized Garage Encoding: Numeric floating-point decimals (e.g., 2.0) and missing values instead of clean boolean status.</a:t>
            </a:r>
          </a:p>
          <a:p>
            <a:pPr>
              <a:spcBef>
                <a:spcPts val="1000"/>
              </a:spcBef>
              <a:defRPr sz="1100">
                <a:solidFill>
                  <a:srgbClr val="1E293B"/>
                </a:solidFill>
                <a:latin typeface="Segoe UI"/>
              </a:defRPr>
            </a:pPr>
            <a:r>
              <a:t>• No Temporal Grouping: Build years spanned from 1852 to 2027 without decade aggregation.</a:t>
            </a:r>
          </a:p>
          <a:p>
            <a:pPr>
              <a:spcBef>
                <a:spcPts val="1000"/>
              </a:spcBef>
              <a:defRPr sz="1100">
                <a:solidFill>
                  <a:srgbClr val="1E293B"/>
                </a:solidFill>
                <a:latin typeface="Segoe UI"/>
              </a:defRPr>
            </a:pPr>
            <a:r>
              <a:t>• Missing Pricing Efficiency Metric: No calculated Price per Square Foot ratio.</a:t>
            </a:r>
          </a:p>
        </p:txBody>
      </p:sp>
      <p:sp>
        <p:nvSpPr>
          <p:cNvPr id="5" name="Rectangle 4"/>
          <p:cNvSpPr/>
          <p:nvPr/>
        </p:nvSpPr>
        <p:spPr>
          <a:xfrm>
            <a:off x="6309360" y="1645920"/>
            <a:ext cx="512064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828800"/>
            <a:ext cx="4572000" cy="4023360"/>
          </a:xfrm>
          <a:prstGeom prst="rect">
            <a:avLst/>
          </a:prstGeom>
          <a:noFill/>
        </p:spPr>
        <p:txBody>
          <a:bodyPr wrap="square">
            <a:spAutoFit/>
          </a:bodyPr>
          <a:lstStyle/>
          <a:p>
            <a:pPr>
              <a:defRPr sz="1500" b="1">
                <a:solidFill>
                  <a:srgbClr val="166534"/>
                </a:solidFill>
                <a:latin typeface="Segoe UI"/>
              </a:defRPr>
            </a:pPr>
            <a:r>
              <a:t>AFTER: Standardized Model ('oregon_real_estate_2026_ultimat')</a:t>
            </a:r>
          </a:p>
          <a:p>
            <a:pPr>
              <a:spcBef>
                <a:spcPts val="1000"/>
              </a:spcBef>
              <a:defRPr sz="1100">
                <a:solidFill>
                  <a:srgbClr val="1E293B"/>
                </a:solidFill>
                <a:latin typeface="Segoe UI"/>
              </a:defRPr>
            </a:pPr>
            <a:r>
              <a:t>• Uniform Property Taxonomies: Standardized to 8 clean categories ('Single family', 'Land', 'Condos', 'Townhome', 'Multi family', 'Farm').</a:t>
            </a:r>
          </a:p>
          <a:p>
            <a:pPr>
              <a:spcBef>
                <a:spcPts val="1000"/>
              </a:spcBef>
              <a:defRPr sz="1100">
                <a:solidFill>
                  <a:srgbClr val="1E293B"/>
                </a:solidFill>
                <a:latin typeface="Segoe UI"/>
              </a:defRPr>
            </a:pPr>
            <a:r>
              <a:t>• Boolean Garage Normalization: Mapped to binary 'Yes' (6,441 units) and 'No' (3,558 units).</a:t>
            </a:r>
          </a:p>
          <a:p>
            <a:pPr>
              <a:spcBef>
                <a:spcPts val="1000"/>
              </a:spcBef>
              <a:defRPr sz="1100">
                <a:solidFill>
                  <a:srgbClr val="1E293B"/>
                </a:solidFill>
                <a:latin typeface="Segoe UI"/>
              </a:defRPr>
            </a:pPr>
            <a:r>
              <a:t>• Decade Segmentation Engine: Automated decade grouping formula classifying inventory into 19 distinct construction eras.</a:t>
            </a:r>
          </a:p>
          <a:p>
            <a:pPr>
              <a:spcBef>
                <a:spcPts val="1000"/>
              </a:spcBef>
              <a:defRPr sz="1100">
                <a:solidFill>
                  <a:srgbClr val="1E293B"/>
                </a:solidFill>
                <a:latin typeface="Segoe UI"/>
              </a:defRPr>
            </a:pPr>
            <a:r>
              <a:t>• Price per Square Foot Ratio: Calculated formula (listPrice / sqft) revealing underlying unit economics.</a:t>
            </a:r>
          </a:p>
          <a:p>
            <a:pPr>
              <a:spcBef>
                <a:spcPts val="1000"/>
              </a:spcBef>
              <a:defRPr sz="1100">
                <a:solidFill>
                  <a:srgbClr val="1E293B"/>
                </a:solidFill>
                <a:latin typeface="Segoe UI"/>
              </a:defRPr>
            </a:pPr>
            <a:r>
              <a:t>• Mathematical Boundary Validation: Cleaned null-division errors across land records where finished sqft is not applicable.</a:t>
            </a:r>
          </a:p>
          <a:p>
            <a:pPr>
              <a:spcBef>
                <a:spcPts val="1000"/>
              </a:spcBef>
              <a:defRPr sz="1100">
                <a:solidFill>
                  <a:srgbClr val="1E293B"/>
                </a:solidFill>
                <a:latin typeface="Segoe UI"/>
              </a:defRPr>
            </a:pPr>
            <a:r>
              <a:t>• Full Audit Trail: Preserved original raw data tab to maintain complete data lineage and transformation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Property Distribution and Market Composition</a:t>
            </a:r>
          </a:p>
          <a:p>
            <a:pPr>
              <a:spcBef>
                <a:spcPts val="400"/>
              </a:spcBef>
              <a:defRPr sz="1300">
                <a:solidFill>
                  <a:srgbClr val="64748B"/>
                </a:solidFill>
                <a:latin typeface="Segoe UI"/>
              </a:defRPr>
            </a:pPr>
            <a:r>
              <a:t>Analysis of 9,999 statewide listings by asset class and volume concentration</a:t>
            </a:r>
          </a:p>
        </p:txBody>
      </p:sp>
      <p:graphicFrame>
        <p:nvGraphicFramePr>
          <p:cNvPr id="3" name="Table 2"/>
          <p:cNvGraphicFramePr>
            <a:graphicFrameLocks noGrp="1"/>
          </p:cNvGraphicFramePr>
          <p:nvPr/>
        </p:nvGraphicFramePr>
        <p:xfrm>
          <a:off x="731520" y="1645920"/>
          <a:ext cx="6858000" cy="4389120"/>
        </p:xfrm>
        <a:graphic>
          <a:graphicData uri="http://schemas.openxmlformats.org/drawingml/2006/table">
            <a:tbl>
              <a:tblPr firstRow="1" bandRow="1">
                <a:tableStyleId>{5C22544A-7EE6-4342-B048-85BDC9FD1C3A}</a:tableStyleId>
              </a:tblPr>
              <a:tblGrid>
                <a:gridCol w="1920240"/>
                <a:gridCol w="1097280"/>
                <a:gridCol w="1188720"/>
                <a:gridCol w="1280160"/>
                <a:gridCol w="1371600"/>
              </a:tblGrid>
              <a:tr h="548640">
                <a:tc>
                  <a:txBody>
                    <a:bodyPr/>
                    <a:lstStyle/>
                    <a:p>
                      <a:pPr algn="l">
                        <a:defRPr sz="1100" b="1">
                          <a:solidFill>
                            <a:srgbClr val="FFFFFF"/>
                          </a:solidFill>
                          <a:latin typeface="Segoe UI"/>
                        </a:defRPr>
                      </a:pPr>
                      <a:r>
                        <a:t>Property Type</a:t>
                      </a:r>
                    </a:p>
                  </a:txBody>
                  <a:tcPr>
                    <a:solidFill>
                      <a:srgbClr val="0F172A"/>
                    </a:solidFill>
                  </a:tcPr>
                </a:tc>
                <a:tc>
                  <a:txBody>
                    <a:bodyPr/>
                    <a:lstStyle/>
                    <a:p>
                      <a:pPr algn="ctr">
                        <a:defRPr sz="1100" b="1">
                          <a:solidFill>
                            <a:srgbClr val="FFFFFF"/>
                          </a:solidFill>
                          <a:latin typeface="Segoe UI"/>
                        </a:defRPr>
                      </a:pPr>
                      <a:r>
                        <a:t>Units</a:t>
                      </a:r>
                    </a:p>
                  </a:txBody>
                  <a:tcPr>
                    <a:solidFill>
                      <a:srgbClr val="0F172A"/>
                    </a:solidFill>
                  </a:tcPr>
                </a:tc>
                <a:tc>
                  <a:txBody>
                    <a:bodyPr/>
                    <a:lstStyle/>
                    <a:p>
                      <a:pPr algn="ctr">
                        <a:defRPr sz="1100" b="1">
                          <a:solidFill>
                            <a:srgbClr val="FFFFFF"/>
                          </a:solidFill>
                          <a:latin typeface="Segoe UI"/>
                        </a:defRPr>
                      </a:pPr>
                      <a:r>
                        <a:t>Market Share</a:t>
                      </a:r>
                    </a:p>
                  </a:txBody>
                  <a:tcPr>
                    <a:solidFill>
                      <a:srgbClr val="0F172A"/>
                    </a:solidFill>
                  </a:tcPr>
                </a:tc>
                <a:tc>
                  <a:txBody>
                    <a:bodyPr/>
                    <a:lstStyle/>
                    <a:p>
                      <a:pPr algn="ctr">
                        <a:defRPr sz="1100" b="1">
                          <a:solidFill>
                            <a:srgbClr val="FFFFFF"/>
                          </a:solidFill>
                          <a:latin typeface="Segoe UI"/>
                        </a:defRPr>
                      </a:pPr>
                      <a:r>
                        <a:t>Average Price</a:t>
                      </a:r>
                    </a:p>
                  </a:txBody>
                  <a:tcPr>
                    <a:solidFill>
                      <a:srgbClr val="0F172A"/>
                    </a:solidFill>
                  </a:tcPr>
                </a:tc>
                <a:tc>
                  <a:txBody>
                    <a:bodyPr/>
                    <a:lstStyle/>
                    <a:p>
                      <a:pPr algn="ctr">
                        <a:defRPr sz="1100" b="1">
                          <a:solidFill>
                            <a:srgbClr val="FFFFFF"/>
                          </a:solidFill>
                          <a:latin typeface="Segoe UI"/>
                        </a:defRPr>
                      </a:pPr>
                      <a:r>
                        <a:t>Total Volume</a:t>
                      </a:r>
                    </a:p>
                  </a:txBody>
                  <a:tcPr>
                    <a:solidFill>
                      <a:srgbClr val="0F172A"/>
                    </a:solidFill>
                  </a:tcPr>
                </a:tc>
              </a:tr>
              <a:tr h="548640">
                <a:tc>
                  <a:txBody>
                    <a:bodyPr/>
                    <a:lstStyle/>
                    <a:p>
                      <a:pPr algn="l">
                        <a:defRPr sz="1000">
                          <a:solidFill>
                            <a:srgbClr val="1E293B"/>
                          </a:solidFill>
                          <a:latin typeface="Segoe UI"/>
                        </a:defRPr>
                      </a:pPr>
                      <a:r>
                        <a:t>Single family</a:t>
                      </a:r>
                    </a:p>
                  </a:txBody>
                  <a:tcPr>
                    <a:solidFill>
                      <a:srgbClr val="FFFFFF"/>
                    </a:solidFill>
                  </a:tcPr>
                </a:tc>
                <a:tc>
                  <a:txBody>
                    <a:bodyPr/>
                    <a:lstStyle/>
                    <a:p>
                      <a:pPr algn="ctr">
                        <a:defRPr sz="1000">
                          <a:solidFill>
                            <a:srgbClr val="1E293B"/>
                          </a:solidFill>
                          <a:latin typeface="Segoe UI"/>
                        </a:defRPr>
                      </a:pPr>
                      <a:r>
                        <a:t>6,383</a:t>
                      </a:r>
                    </a:p>
                  </a:txBody>
                  <a:tcPr>
                    <a:solidFill>
                      <a:srgbClr val="FFFFFF"/>
                    </a:solidFill>
                  </a:tcPr>
                </a:tc>
                <a:tc>
                  <a:txBody>
                    <a:bodyPr/>
                    <a:lstStyle/>
                    <a:p>
                      <a:pPr algn="ctr">
                        <a:defRPr sz="1000">
                          <a:solidFill>
                            <a:srgbClr val="1E293B"/>
                          </a:solidFill>
                          <a:latin typeface="Segoe UI"/>
                        </a:defRPr>
                      </a:pPr>
                      <a:r>
                        <a:t>63.8%</a:t>
                      </a:r>
                    </a:p>
                  </a:txBody>
                  <a:tcPr>
                    <a:solidFill>
                      <a:srgbClr val="FFFFFF"/>
                    </a:solidFill>
                  </a:tcPr>
                </a:tc>
                <a:tc>
                  <a:txBody>
                    <a:bodyPr/>
                    <a:lstStyle/>
                    <a:p>
                      <a:pPr algn="ctr">
                        <a:defRPr sz="1000">
                          <a:solidFill>
                            <a:srgbClr val="1E293B"/>
                          </a:solidFill>
                          <a:latin typeface="Segoe UI"/>
                        </a:defRPr>
                      </a:pPr>
                      <a:r>
                        <a:t>$745,355</a:t>
                      </a:r>
                    </a:p>
                  </a:txBody>
                  <a:tcPr>
                    <a:solidFill>
                      <a:srgbClr val="FFFFFF"/>
                    </a:solidFill>
                  </a:tcPr>
                </a:tc>
                <a:tc>
                  <a:txBody>
                    <a:bodyPr/>
                    <a:lstStyle/>
                    <a:p>
                      <a:pPr algn="ctr">
                        <a:defRPr sz="1000">
                          <a:solidFill>
                            <a:srgbClr val="1E293B"/>
                          </a:solidFill>
                          <a:latin typeface="Segoe UI"/>
                        </a:defRPr>
                      </a:pPr>
                      <a:r>
                        <a:t>$4.76 Billion</a:t>
                      </a:r>
                    </a:p>
                  </a:txBody>
                  <a:tcPr>
                    <a:solidFill>
                      <a:srgbClr val="FFFFFF"/>
                    </a:solidFill>
                  </a:tcPr>
                </a:tc>
              </a:tr>
              <a:tr h="548640">
                <a:tc>
                  <a:txBody>
                    <a:bodyPr/>
                    <a:lstStyle/>
                    <a:p>
                      <a:pPr algn="l">
                        <a:defRPr sz="1000">
                          <a:solidFill>
                            <a:srgbClr val="1E293B"/>
                          </a:solidFill>
                          <a:latin typeface="Segoe UI"/>
                        </a:defRPr>
                      </a:pPr>
                      <a:r>
                        <a:t>Land / Acreage</a:t>
                      </a:r>
                    </a:p>
                  </a:txBody>
                  <a:tcPr>
                    <a:solidFill>
                      <a:srgbClr val="F8FAFC"/>
                    </a:solidFill>
                  </a:tcPr>
                </a:tc>
                <a:tc>
                  <a:txBody>
                    <a:bodyPr/>
                    <a:lstStyle/>
                    <a:p>
                      <a:pPr algn="ctr">
                        <a:defRPr sz="1000">
                          <a:solidFill>
                            <a:srgbClr val="1E293B"/>
                          </a:solidFill>
                          <a:latin typeface="Segoe UI"/>
                        </a:defRPr>
                      </a:pPr>
                      <a:r>
                        <a:t>1,714</a:t>
                      </a:r>
                    </a:p>
                  </a:txBody>
                  <a:tcPr>
                    <a:solidFill>
                      <a:srgbClr val="F8FAFC"/>
                    </a:solidFill>
                  </a:tcPr>
                </a:tc>
                <a:tc>
                  <a:txBody>
                    <a:bodyPr/>
                    <a:lstStyle/>
                    <a:p>
                      <a:pPr algn="ctr">
                        <a:defRPr sz="1000">
                          <a:solidFill>
                            <a:srgbClr val="1E293B"/>
                          </a:solidFill>
                          <a:latin typeface="Segoe UI"/>
                        </a:defRPr>
                      </a:pPr>
                      <a:r>
                        <a:t>17.1%</a:t>
                      </a:r>
                    </a:p>
                  </a:txBody>
                  <a:tcPr>
                    <a:solidFill>
                      <a:srgbClr val="F8FAFC"/>
                    </a:solidFill>
                  </a:tcPr>
                </a:tc>
                <a:tc>
                  <a:txBody>
                    <a:bodyPr/>
                    <a:lstStyle/>
                    <a:p>
                      <a:pPr algn="ctr">
                        <a:defRPr sz="1000">
                          <a:solidFill>
                            <a:srgbClr val="1E293B"/>
                          </a:solidFill>
                          <a:latin typeface="Segoe UI"/>
                        </a:defRPr>
                      </a:pPr>
                      <a:r>
                        <a:t>$335,637</a:t>
                      </a:r>
                    </a:p>
                  </a:txBody>
                  <a:tcPr>
                    <a:solidFill>
                      <a:srgbClr val="F8FAFC"/>
                    </a:solidFill>
                  </a:tcPr>
                </a:tc>
                <a:tc>
                  <a:txBody>
                    <a:bodyPr/>
                    <a:lstStyle/>
                    <a:p>
                      <a:pPr algn="ctr">
                        <a:defRPr sz="1000">
                          <a:solidFill>
                            <a:srgbClr val="1E293B"/>
                          </a:solidFill>
                          <a:latin typeface="Segoe UI"/>
                        </a:defRPr>
                      </a:pPr>
                      <a:r>
                        <a:t>$575.3 Million</a:t>
                      </a:r>
                    </a:p>
                  </a:txBody>
                  <a:tcPr>
                    <a:solidFill>
                      <a:srgbClr val="F8FAFC"/>
                    </a:solidFill>
                  </a:tcPr>
                </a:tc>
              </a:tr>
              <a:tr h="548640">
                <a:tc>
                  <a:txBody>
                    <a:bodyPr/>
                    <a:lstStyle/>
                    <a:p>
                      <a:pPr algn="l">
                        <a:defRPr sz="1000">
                          <a:solidFill>
                            <a:srgbClr val="1E293B"/>
                          </a:solidFill>
                          <a:latin typeface="Segoe UI"/>
                        </a:defRPr>
                      </a:pPr>
                      <a:r>
                        <a:t>Condominiums</a:t>
                      </a:r>
                    </a:p>
                  </a:txBody>
                  <a:tcPr>
                    <a:solidFill>
                      <a:srgbClr val="FFFFFF"/>
                    </a:solidFill>
                  </a:tcPr>
                </a:tc>
                <a:tc>
                  <a:txBody>
                    <a:bodyPr/>
                    <a:lstStyle/>
                    <a:p>
                      <a:pPr algn="ctr">
                        <a:defRPr sz="1000">
                          <a:solidFill>
                            <a:srgbClr val="1E293B"/>
                          </a:solidFill>
                          <a:latin typeface="Segoe UI"/>
                        </a:defRPr>
                      </a:pPr>
                      <a:r>
                        <a:t>843</a:t>
                      </a:r>
                    </a:p>
                  </a:txBody>
                  <a:tcPr>
                    <a:solidFill>
                      <a:srgbClr val="FFFFFF"/>
                    </a:solidFill>
                  </a:tcPr>
                </a:tc>
                <a:tc>
                  <a:txBody>
                    <a:bodyPr/>
                    <a:lstStyle/>
                    <a:p>
                      <a:pPr algn="ctr">
                        <a:defRPr sz="1000">
                          <a:solidFill>
                            <a:srgbClr val="1E293B"/>
                          </a:solidFill>
                          <a:latin typeface="Segoe UI"/>
                        </a:defRPr>
                      </a:pPr>
                      <a:r>
                        <a:t>8.4%</a:t>
                      </a:r>
                    </a:p>
                  </a:txBody>
                  <a:tcPr>
                    <a:solidFill>
                      <a:srgbClr val="FFFFFF"/>
                    </a:solidFill>
                  </a:tcPr>
                </a:tc>
                <a:tc>
                  <a:txBody>
                    <a:bodyPr/>
                    <a:lstStyle/>
                    <a:p>
                      <a:pPr algn="ctr">
                        <a:defRPr sz="1000">
                          <a:solidFill>
                            <a:srgbClr val="1E293B"/>
                          </a:solidFill>
                          <a:latin typeface="Segoe UI"/>
                        </a:defRPr>
                      </a:pPr>
                      <a:r>
                        <a:t>$406,949</a:t>
                      </a:r>
                    </a:p>
                  </a:txBody>
                  <a:tcPr>
                    <a:solidFill>
                      <a:srgbClr val="FFFFFF"/>
                    </a:solidFill>
                  </a:tcPr>
                </a:tc>
                <a:tc>
                  <a:txBody>
                    <a:bodyPr/>
                    <a:lstStyle/>
                    <a:p>
                      <a:pPr algn="ctr">
                        <a:defRPr sz="1000">
                          <a:solidFill>
                            <a:srgbClr val="1E293B"/>
                          </a:solidFill>
                          <a:latin typeface="Segoe UI"/>
                        </a:defRPr>
                      </a:pPr>
                      <a:r>
                        <a:t>$343.1 Million</a:t>
                      </a:r>
                    </a:p>
                  </a:txBody>
                  <a:tcPr>
                    <a:solidFill>
                      <a:srgbClr val="FFFFFF"/>
                    </a:solidFill>
                  </a:tcPr>
                </a:tc>
              </a:tr>
              <a:tr h="548640">
                <a:tc>
                  <a:txBody>
                    <a:bodyPr/>
                    <a:lstStyle/>
                    <a:p>
                      <a:pPr algn="l">
                        <a:defRPr sz="1000">
                          <a:solidFill>
                            <a:srgbClr val="1E293B"/>
                          </a:solidFill>
                          <a:latin typeface="Segoe UI"/>
                        </a:defRPr>
                      </a:pPr>
                      <a:r>
                        <a:t>Townhomes</a:t>
                      </a:r>
                    </a:p>
                  </a:txBody>
                  <a:tcPr>
                    <a:solidFill>
                      <a:srgbClr val="F8FAFC"/>
                    </a:solidFill>
                  </a:tcPr>
                </a:tc>
                <a:tc>
                  <a:txBody>
                    <a:bodyPr/>
                    <a:lstStyle/>
                    <a:p>
                      <a:pPr algn="ctr">
                        <a:defRPr sz="1000">
                          <a:solidFill>
                            <a:srgbClr val="1E293B"/>
                          </a:solidFill>
                          <a:latin typeface="Segoe UI"/>
                        </a:defRPr>
                      </a:pPr>
                      <a:r>
                        <a:t>468</a:t>
                      </a:r>
                    </a:p>
                  </a:txBody>
                  <a:tcPr>
                    <a:solidFill>
                      <a:srgbClr val="F8FAFC"/>
                    </a:solidFill>
                  </a:tcPr>
                </a:tc>
                <a:tc>
                  <a:txBody>
                    <a:bodyPr/>
                    <a:lstStyle/>
                    <a:p>
                      <a:pPr algn="ctr">
                        <a:defRPr sz="1000">
                          <a:solidFill>
                            <a:srgbClr val="1E293B"/>
                          </a:solidFill>
                          <a:latin typeface="Segoe UI"/>
                        </a:defRPr>
                      </a:pPr>
                      <a:r>
                        <a:t>4.7%</a:t>
                      </a:r>
                    </a:p>
                  </a:txBody>
                  <a:tcPr>
                    <a:solidFill>
                      <a:srgbClr val="F8FAFC"/>
                    </a:solidFill>
                  </a:tcPr>
                </a:tc>
                <a:tc>
                  <a:txBody>
                    <a:bodyPr/>
                    <a:lstStyle/>
                    <a:p>
                      <a:pPr algn="ctr">
                        <a:defRPr sz="1000">
                          <a:solidFill>
                            <a:srgbClr val="1E293B"/>
                          </a:solidFill>
                          <a:latin typeface="Segoe UI"/>
                        </a:defRPr>
                      </a:pPr>
                      <a:r>
                        <a:t>$490,287</a:t>
                      </a:r>
                    </a:p>
                  </a:txBody>
                  <a:tcPr>
                    <a:solidFill>
                      <a:srgbClr val="F8FAFC"/>
                    </a:solidFill>
                  </a:tcPr>
                </a:tc>
                <a:tc>
                  <a:txBody>
                    <a:bodyPr/>
                    <a:lstStyle/>
                    <a:p>
                      <a:pPr algn="ctr">
                        <a:defRPr sz="1000">
                          <a:solidFill>
                            <a:srgbClr val="1E293B"/>
                          </a:solidFill>
                          <a:latin typeface="Segoe UI"/>
                        </a:defRPr>
                      </a:pPr>
                      <a:r>
                        <a:t>$229.5 Million</a:t>
                      </a:r>
                    </a:p>
                  </a:txBody>
                  <a:tcPr>
                    <a:solidFill>
                      <a:srgbClr val="F8FAFC"/>
                    </a:solidFill>
                  </a:tcPr>
                </a:tc>
              </a:tr>
              <a:tr h="548640">
                <a:tc>
                  <a:txBody>
                    <a:bodyPr/>
                    <a:lstStyle/>
                    <a:p>
                      <a:pPr algn="l">
                        <a:defRPr sz="1000">
                          <a:solidFill>
                            <a:srgbClr val="1E293B"/>
                          </a:solidFill>
                          <a:latin typeface="Segoe UI"/>
                        </a:defRPr>
                      </a:pPr>
                      <a:r>
                        <a:t>Multi-Family</a:t>
                      </a:r>
                    </a:p>
                  </a:txBody>
                  <a:tcPr>
                    <a:solidFill>
                      <a:srgbClr val="FFFFFF"/>
                    </a:solidFill>
                  </a:tcPr>
                </a:tc>
                <a:tc>
                  <a:txBody>
                    <a:bodyPr/>
                    <a:lstStyle/>
                    <a:p>
                      <a:pPr algn="ctr">
                        <a:defRPr sz="1000">
                          <a:solidFill>
                            <a:srgbClr val="1E293B"/>
                          </a:solidFill>
                          <a:latin typeface="Segoe UI"/>
                        </a:defRPr>
                      </a:pPr>
                      <a:r>
                        <a:t>400</a:t>
                      </a:r>
                    </a:p>
                  </a:txBody>
                  <a:tcPr>
                    <a:solidFill>
                      <a:srgbClr val="FFFFFF"/>
                    </a:solidFill>
                  </a:tcPr>
                </a:tc>
                <a:tc>
                  <a:txBody>
                    <a:bodyPr/>
                    <a:lstStyle/>
                    <a:p>
                      <a:pPr algn="ctr">
                        <a:defRPr sz="1000">
                          <a:solidFill>
                            <a:srgbClr val="1E293B"/>
                          </a:solidFill>
                          <a:latin typeface="Segoe UI"/>
                        </a:defRPr>
                      </a:pPr>
                      <a:r>
                        <a:t>4.0%</a:t>
                      </a:r>
                    </a:p>
                  </a:txBody>
                  <a:tcPr>
                    <a:solidFill>
                      <a:srgbClr val="FFFFFF"/>
                    </a:solidFill>
                  </a:tcPr>
                </a:tc>
                <a:tc>
                  <a:txBody>
                    <a:bodyPr/>
                    <a:lstStyle/>
                    <a:p>
                      <a:pPr algn="ctr">
                        <a:defRPr sz="1000">
                          <a:solidFill>
                            <a:srgbClr val="1E293B"/>
                          </a:solidFill>
                          <a:latin typeface="Segoe UI"/>
                        </a:defRPr>
                      </a:pPr>
                      <a:r>
                        <a:t>$1,071,870</a:t>
                      </a:r>
                    </a:p>
                  </a:txBody>
                  <a:tcPr>
                    <a:solidFill>
                      <a:srgbClr val="FFFFFF"/>
                    </a:solidFill>
                  </a:tcPr>
                </a:tc>
                <a:tc>
                  <a:txBody>
                    <a:bodyPr/>
                    <a:lstStyle/>
                    <a:p>
                      <a:pPr algn="ctr">
                        <a:defRPr sz="1000">
                          <a:solidFill>
                            <a:srgbClr val="1E293B"/>
                          </a:solidFill>
                          <a:latin typeface="Segoe UI"/>
                        </a:defRPr>
                      </a:pPr>
                      <a:r>
                        <a:t>$428.7 Million</a:t>
                      </a:r>
                    </a:p>
                  </a:txBody>
                  <a:tcPr>
                    <a:solidFill>
                      <a:srgbClr val="FFFFFF"/>
                    </a:solidFill>
                  </a:tcPr>
                </a:tc>
              </a:tr>
              <a:tr h="548640">
                <a:tc>
                  <a:txBody>
                    <a:bodyPr/>
                    <a:lstStyle/>
                    <a:p>
                      <a:pPr algn="l">
                        <a:defRPr sz="1000">
                          <a:solidFill>
                            <a:srgbClr val="1E293B"/>
                          </a:solidFill>
                          <a:latin typeface="Segoe UI"/>
                        </a:defRPr>
                      </a:pPr>
                      <a:r>
                        <a:t>Farm / Agriculture</a:t>
                      </a:r>
                    </a:p>
                  </a:txBody>
                  <a:tcPr>
                    <a:solidFill>
                      <a:srgbClr val="F8FAFC"/>
                    </a:solidFill>
                  </a:tcPr>
                </a:tc>
                <a:tc>
                  <a:txBody>
                    <a:bodyPr/>
                    <a:lstStyle/>
                    <a:p>
                      <a:pPr algn="ctr">
                        <a:defRPr sz="1000">
                          <a:solidFill>
                            <a:srgbClr val="1E293B"/>
                          </a:solidFill>
                          <a:latin typeface="Segoe UI"/>
                        </a:defRPr>
                      </a:pPr>
                      <a:r>
                        <a:t>186</a:t>
                      </a:r>
                    </a:p>
                  </a:txBody>
                  <a:tcPr>
                    <a:solidFill>
                      <a:srgbClr val="F8FAFC"/>
                    </a:solidFill>
                  </a:tcPr>
                </a:tc>
                <a:tc>
                  <a:txBody>
                    <a:bodyPr/>
                    <a:lstStyle/>
                    <a:p>
                      <a:pPr algn="ctr">
                        <a:defRPr sz="1000">
                          <a:solidFill>
                            <a:srgbClr val="1E293B"/>
                          </a:solidFill>
                          <a:latin typeface="Segoe UI"/>
                        </a:defRPr>
                      </a:pPr>
                      <a:r>
                        <a:t>1.9%</a:t>
                      </a:r>
                    </a:p>
                  </a:txBody>
                  <a:tcPr>
                    <a:solidFill>
                      <a:srgbClr val="F8FAFC"/>
                    </a:solidFill>
                  </a:tcPr>
                </a:tc>
                <a:tc>
                  <a:txBody>
                    <a:bodyPr/>
                    <a:lstStyle/>
                    <a:p>
                      <a:pPr algn="ctr">
                        <a:defRPr sz="1000">
                          <a:solidFill>
                            <a:srgbClr val="1E293B"/>
                          </a:solidFill>
                          <a:latin typeface="Segoe UI"/>
                        </a:defRPr>
                      </a:pPr>
                      <a:r>
                        <a:t>$2,405,246</a:t>
                      </a:r>
                    </a:p>
                  </a:txBody>
                  <a:tcPr>
                    <a:solidFill>
                      <a:srgbClr val="F8FAFC"/>
                    </a:solidFill>
                  </a:tcPr>
                </a:tc>
                <a:tc>
                  <a:txBody>
                    <a:bodyPr/>
                    <a:lstStyle/>
                    <a:p>
                      <a:pPr algn="ctr">
                        <a:defRPr sz="1000">
                          <a:solidFill>
                            <a:srgbClr val="1E293B"/>
                          </a:solidFill>
                          <a:latin typeface="Segoe UI"/>
                        </a:defRPr>
                      </a:pPr>
                      <a:r>
                        <a:t>$447.4 Million</a:t>
                      </a:r>
                    </a:p>
                  </a:txBody>
                  <a:tcPr>
                    <a:solidFill>
                      <a:srgbClr val="F8FAFC"/>
                    </a:solidFill>
                  </a:tcPr>
                </a:tc>
              </a:tr>
              <a:tr h="548640">
                <a:tc>
                  <a:txBody>
                    <a:bodyPr/>
                    <a:lstStyle/>
                    <a:p>
                      <a:pPr algn="l">
                        <a:defRPr sz="1000" b="1">
                          <a:solidFill>
                            <a:srgbClr val="0F172A"/>
                          </a:solidFill>
                          <a:latin typeface="Segoe UI"/>
                        </a:defRPr>
                      </a:pPr>
                      <a:r>
                        <a:t>Total / Average</a:t>
                      </a:r>
                    </a:p>
                  </a:txBody>
                  <a:tcPr>
                    <a:solidFill>
                      <a:srgbClr val="F1F5F9"/>
                    </a:solidFill>
                  </a:tcPr>
                </a:tc>
                <a:tc>
                  <a:txBody>
                    <a:bodyPr/>
                    <a:lstStyle/>
                    <a:p>
                      <a:pPr algn="ctr">
                        <a:defRPr sz="1000" b="1">
                          <a:solidFill>
                            <a:srgbClr val="0F172A"/>
                          </a:solidFill>
                          <a:latin typeface="Segoe UI"/>
                        </a:defRPr>
                      </a:pPr>
                      <a:r>
                        <a:t>9,999</a:t>
                      </a:r>
                    </a:p>
                  </a:txBody>
                  <a:tcPr>
                    <a:solidFill>
                      <a:srgbClr val="F1F5F9"/>
                    </a:solidFill>
                  </a:tcPr>
                </a:tc>
                <a:tc>
                  <a:txBody>
                    <a:bodyPr/>
                    <a:lstStyle/>
                    <a:p>
                      <a:pPr algn="ctr">
                        <a:defRPr sz="1000" b="1">
                          <a:solidFill>
                            <a:srgbClr val="0F172A"/>
                          </a:solidFill>
                          <a:latin typeface="Segoe UI"/>
                        </a:defRPr>
                      </a:pPr>
                      <a:r>
                        <a:t>100.0%</a:t>
                      </a:r>
                    </a:p>
                  </a:txBody>
                  <a:tcPr>
                    <a:solidFill>
                      <a:srgbClr val="F1F5F9"/>
                    </a:solidFill>
                  </a:tcPr>
                </a:tc>
                <a:tc>
                  <a:txBody>
                    <a:bodyPr/>
                    <a:lstStyle/>
                    <a:p>
                      <a:pPr algn="ctr">
                        <a:defRPr sz="1000" b="1">
                          <a:solidFill>
                            <a:srgbClr val="0F172A"/>
                          </a:solidFill>
                          <a:latin typeface="Segoe UI"/>
                        </a:defRPr>
                      </a:pPr>
                      <a:r>
                        <a:t>$678,467</a:t>
                      </a:r>
                    </a:p>
                  </a:txBody>
                  <a:tcPr>
                    <a:solidFill>
                      <a:srgbClr val="F1F5F9"/>
                    </a:solidFill>
                  </a:tcPr>
                </a:tc>
                <a:tc>
                  <a:txBody>
                    <a:bodyPr/>
                    <a:lstStyle/>
                    <a:p>
                      <a:pPr algn="ctr">
                        <a:defRPr sz="1000" b="1">
                          <a:solidFill>
                            <a:srgbClr val="0F172A"/>
                          </a:solidFill>
                          <a:latin typeface="Segoe UI"/>
                        </a:defRPr>
                      </a:pPr>
                      <a:r>
                        <a:t>$6.78 Billion</a:t>
                      </a:r>
                    </a:p>
                  </a:txBody>
                  <a:tcPr>
                    <a:solidFill>
                      <a:srgbClr val="F1F5F9"/>
                    </a:solidFill>
                  </a:tcPr>
                </a:tc>
              </a:tr>
            </a:tbl>
          </a:graphicData>
        </a:graphic>
      </p:graphicFrame>
      <p:sp>
        <p:nvSpPr>
          <p:cNvPr id="4" name="Rectangle 3"/>
          <p:cNvSpPr/>
          <p:nvPr/>
        </p:nvSpPr>
        <p:spPr>
          <a:xfrm>
            <a:off x="7863840" y="1645920"/>
            <a:ext cx="356616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0" y="1828800"/>
            <a:ext cx="3200400" cy="4023360"/>
          </a:xfrm>
          <a:prstGeom prst="rect">
            <a:avLst/>
          </a:prstGeom>
          <a:noFill/>
        </p:spPr>
        <p:txBody>
          <a:bodyPr wrap="square">
            <a:spAutoFit/>
          </a:bodyPr>
          <a:lstStyle/>
          <a:p>
            <a:pPr>
              <a:defRPr sz="1500" b="1">
                <a:solidFill>
                  <a:srgbClr val="0F172A"/>
                </a:solidFill>
                <a:latin typeface="Segoe UI"/>
              </a:defRPr>
            </a:pPr>
            <a:r>
              <a:t>Commercial Takeaways</a:t>
            </a:r>
          </a:p>
          <a:p>
            <a:pPr>
              <a:spcBef>
                <a:spcPts val="800"/>
              </a:spcBef>
              <a:defRPr sz="1000">
                <a:solidFill>
                  <a:srgbClr val="1E293B"/>
                </a:solidFill>
                <a:latin typeface="Segoe UI"/>
              </a:defRPr>
            </a:pPr>
            <a:r>
              <a:t>Single Family Dominance: Represents 63.8% of listing inventory and 70.1% of total transaction dollar value ($4.76B).</a:t>
            </a:r>
          </a:p>
          <a:p>
            <a:pPr>
              <a:spcBef>
                <a:spcPts val="800"/>
              </a:spcBef>
              <a:defRPr sz="1000">
                <a:solidFill>
                  <a:srgbClr val="1E293B"/>
                </a:solidFill>
                <a:latin typeface="Segoe UI"/>
              </a:defRPr>
            </a:pPr>
            <a:r>
              <a:t>High-Value Agricultural Outliers: Farm properties account for only 1.9% of units but command the highest average price ($2.41M), driven by substantial acreage.</a:t>
            </a:r>
          </a:p>
          <a:p>
            <a:pPr>
              <a:spcBef>
                <a:spcPts val="800"/>
              </a:spcBef>
              <a:defRPr sz="1000">
                <a:solidFill>
                  <a:srgbClr val="1E293B"/>
                </a:solidFill>
                <a:latin typeface="Segoe UI"/>
              </a:defRPr>
            </a:pPr>
            <a:r>
              <a:t>Density &amp; Urban Alternatives: Condominiums and townhomes combine for 13.1% of inventory with entry-level price points ($407k and $490k).</a:t>
            </a:r>
          </a:p>
          <a:p>
            <a:pPr>
              <a:spcBef>
                <a:spcPts val="800"/>
              </a:spcBef>
              <a:defRPr sz="1000">
                <a:solidFill>
                  <a:srgbClr val="1E293B"/>
                </a:solidFill>
                <a:latin typeface="Segoe UI"/>
              </a:defRPr>
            </a:pPr>
            <a:r>
              <a:t>Commercial Multi-Family Density: Multi-family averages $1.07M, functioning as prime target assets for income investors.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Square Footage, Bathrooms, and Price per SqFt</a:t>
            </a:r>
          </a:p>
          <a:p>
            <a:pPr>
              <a:spcBef>
                <a:spcPts val="400"/>
              </a:spcBef>
              <a:defRPr sz="1300">
                <a:solidFill>
                  <a:srgbClr val="64748B"/>
                </a:solidFill>
                <a:latin typeface="Segoe UI"/>
              </a:defRPr>
            </a:pPr>
            <a:r>
              <a:t>Correlating physical space dimensions with market valuation efficiency</a:t>
            </a:r>
          </a:p>
        </p:txBody>
      </p:sp>
      <p:graphicFrame>
        <p:nvGraphicFramePr>
          <p:cNvPr id="3" name="Table 2"/>
          <p:cNvGraphicFramePr>
            <a:graphicFrameLocks noGrp="1"/>
          </p:cNvGraphicFramePr>
          <p:nvPr/>
        </p:nvGraphicFramePr>
        <p:xfrm>
          <a:off x="731520" y="1645920"/>
          <a:ext cx="6858000" cy="4114800"/>
        </p:xfrm>
        <a:graphic>
          <a:graphicData uri="http://schemas.openxmlformats.org/drawingml/2006/table">
            <a:tbl>
              <a:tblPr firstRow="1" bandRow="1">
                <a:tableStyleId>{5C22544A-7EE6-4342-B048-85BDC9FD1C3A}</a:tableStyleId>
              </a:tblPr>
              <a:tblGrid>
                <a:gridCol w="1920240"/>
                <a:gridCol w="1188720"/>
                <a:gridCol w="1188720"/>
                <a:gridCol w="1280160"/>
                <a:gridCol w="1280160"/>
              </a:tblGrid>
              <a:tr h="587828">
                <a:tc>
                  <a:txBody>
                    <a:bodyPr/>
                    <a:lstStyle/>
                    <a:p>
                      <a:pPr algn="l">
                        <a:defRPr sz="1100" b="1">
                          <a:solidFill>
                            <a:srgbClr val="FFFFFF"/>
                          </a:solidFill>
                          <a:latin typeface="Segoe UI"/>
                        </a:defRPr>
                      </a:pPr>
                      <a:r>
                        <a:t>Property Type</a:t>
                      </a:r>
                    </a:p>
                  </a:txBody>
                  <a:tcPr>
                    <a:solidFill>
                      <a:srgbClr val="0F172A"/>
                    </a:solidFill>
                  </a:tcPr>
                </a:tc>
                <a:tc>
                  <a:txBody>
                    <a:bodyPr/>
                    <a:lstStyle/>
                    <a:p>
                      <a:pPr algn="ctr">
                        <a:defRPr sz="1100" b="1">
                          <a:solidFill>
                            <a:srgbClr val="FFFFFF"/>
                          </a:solidFill>
                          <a:latin typeface="Segoe UI"/>
                        </a:defRPr>
                      </a:pPr>
                      <a:r>
                        <a:t>Avg Square Feet</a:t>
                      </a:r>
                    </a:p>
                  </a:txBody>
                  <a:tcPr>
                    <a:solidFill>
                      <a:srgbClr val="0F172A"/>
                    </a:solidFill>
                  </a:tcPr>
                </a:tc>
                <a:tc>
                  <a:txBody>
                    <a:bodyPr/>
                    <a:lstStyle/>
                    <a:p>
                      <a:pPr algn="ctr">
                        <a:defRPr sz="1100" b="1">
                          <a:solidFill>
                            <a:srgbClr val="FFFFFF"/>
                          </a:solidFill>
                          <a:latin typeface="Segoe UI"/>
                        </a:defRPr>
                      </a:pPr>
                      <a:r>
                        <a:t>Avg Bathrooms</a:t>
                      </a:r>
                    </a:p>
                  </a:txBody>
                  <a:tcPr>
                    <a:solidFill>
                      <a:srgbClr val="0F172A"/>
                    </a:solidFill>
                  </a:tcPr>
                </a:tc>
                <a:tc>
                  <a:txBody>
                    <a:bodyPr/>
                    <a:lstStyle/>
                    <a:p>
                      <a:pPr algn="ctr">
                        <a:defRPr sz="1100" b="1">
                          <a:solidFill>
                            <a:srgbClr val="FFFFFF"/>
                          </a:solidFill>
                          <a:latin typeface="Segoe UI"/>
                        </a:defRPr>
                      </a:pPr>
                      <a:r>
                        <a:t>Avg Price / SqFt</a:t>
                      </a:r>
                    </a:p>
                  </a:txBody>
                  <a:tcPr>
                    <a:solidFill>
                      <a:srgbClr val="0F172A"/>
                    </a:solidFill>
                  </a:tcPr>
                </a:tc>
                <a:tc>
                  <a:txBody>
                    <a:bodyPr/>
                    <a:lstStyle/>
                    <a:p>
                      <a:pPr algn="ctr">
                        <a:defRPr sz="1100" b="1">
                          <a:solidFill>
                            <a:srgbClr val="FFFFFF"/>
                          </a:solidFill>
                          <a:latin typeface="Segoe UI"/>
                        </a:defRPr>
                      </a:pPr>
                      <a:r>
                        <a:t>Cost Efficiency</a:t>
                      </a:r>
                    </a:p>
                  </a:txBody>
                  <a:tcPr>
                    <a:solidFill>
                      <a:srgbClr val="0F172A"/>
                    </a:solidFill>
                  </a:tcPr>
                </a:tc>
              </a:tr>
              <a:tr h="587828">
                <a:tc>
                  <a:txBody>
                    <a:bodyPr/>
                    <a:lstStyle/>
                    <a:p>
                      <a:pPr algn="l">
                        <a:defRPr sz="1000">
                          <a:solidFill>
                            <a:srgbClr val="1E293B"/>
                          </a:solidFill>
                          <a:latin typeface="Segoe UI"/>
                        </a:defRPr>
                      </a:pPr>
                      <a:r>
                        <a:t>Multi-Family</a:t>
                      </a:r>
                    </a:p>
                  </a:txBody>
                  <a:tcPr>
                    <a:solidFill>
                      <a:srgbClr val="FFFFFF"/>
                    </a:solidFill>
                  </a:tcPr>
                </a:tc>
                <a:tc>
                  <a:txBody>
                    <a:bodyPr/>
                    <a:lstStyle/>
                    <a:p>
                      <a:pPr algn="ctr">
                        <a:defRPr sz="1000">
                          <a:solidFill>
                            <a:srgbClr val="1E293B"/>
                          </a:solidFill>
                          <a:latin typeface="Segoe UI"/>
                        </a:defRPr>
                      </a:pPr>
                      <a:r>
                        <a:t>4,161 sqft</a:t>
                      </a:r>
                    </a:p>
                  </a:txBody>
                  <a:tcPr>
                    <a:solidFill>
                      <a:srgbClr val="FFFFFF"/>
                    </a:solidFill>
                  </a:tcPr>
                </a:tc>
                <a:tc>
                  <a:txBody>
                    <a:bodyPr/>
                    <a:lstStyle/>
                    <a:p>
                      <a:pPr algn="ctr">
                        <a:defRPr sz="1000">
                          <a:solidFill>
                            <a:srgbClr val="1E293B"/>
                          </a:solidFill>
                          <a:latin typeface="Segoe UI"/>
                        </a:defRPr>
                      </a:pPr>
                      <a:r>
                        <a:t>4.64 baths</a:t>
                      </a:r>
                    </a:p>
                  </a:txBody>
                  <a:tcPr>
                    <a:solidFill>
                      <a:srgbClr val="FFFFFF"/>
                    </a:solidFill>
                  </a:tcPr>
                </a:tc>
                <a:tc>
                  <a:txBody>
                    <a:bodyPr/>
                    <a:lstStyle/>
                    <a:p>
                      <a:pPr algn="ctr">
                        <a:defRPr sz="1000">
                          <a:solidFill>
                            <a:srgbClr val="1E293B"/>
                          </a:solidFill>
                          <a:latin typeface="Segoe UI"/>
                        </a:defRPr>
                      </a:pPr>
                      <a:r>
                        <a:t>$266.70</a:t>
                      </a:r>
                    </a:p>
                  </a:txBody>
                  <a:tcPr>
                    <a:solidFill>
                      <a:srgbClr val="FFFFFF"/>
                    </a:solidFill>
                  </a:tcPr>
                </a:tc>
                <a:tc>
                  <a:txBody>
                    <a:bodyPr/>
                    <a:lstStyle/>
                    <a:p>
                      <a:pPr algn="ctr">
                        <a:defRPr sz="1000">
                          <a:solidFill>
                            <a:srgbClr val="1E293B"/>
                          </a:solidFill>
                          <a:latin typeface="Segoe UI"/>
                        </a:defRPr>
                      </a:pPr>
                      <a:r>
                        <a:t>Highest Scale Discount</a:t>
                      </a:r>
                    </a:p>
                  </a:txBody>
                  <a:tcPr>
                    <a:solidFill>
                      <a:srgbClr val="FFFFFF"/>
                    </a:solidFill>
                  </a:tcPr>
                </a:tc>
              </a:tr>
              <a:tr h="587828">
                <a:tc>
                  <a:txBody>
                    <a:bodyPr/>
                    <a:lstStyle/>
                    <a:p>
                      <a:pPr algn="l">
                        <a:defRPr sz="1000">
                          <a:solidFill>
                            <a:srgbClr val="1E293B"/>
                          </a:solidFill>
                          <a:latin typeface="Segoe UI"/>
                        </a:defRPr>
                      </a:pPr>
                      <a:r>
                        <a:t>Farm / Ranch</a:t>
                      </a:r>
                    </a:p>
                  </a:txBody>
                  <a:tcPr>
                    <a:solidFill>
                      <a:srgbClr val="F8FAFC"/>
                    </a:solidFill>
                  </a:tcPr>
                </a:tc>
                <a:tc>
                  <a:txBody>
                    <a:bodyPr/>
                    <a:lstStyle/>
                    <a:p>
                      <a:pPr algn="ctr">
                        <a:defRPr sz="1000">
                          <a:solidFill>
                            <a:srgbClr val="1E293B"/>
                          </a:solidFill>
                          <a:latin typeface="Segoe UI"/>
                        </a:defRPr>
                      </a:pPr>
                      <a:r>
                        <a:t>2,758 sqft</a:t>
                      </a:r>
                    </a:p>
                  </a:txBody>
                  <a:tcPr>
                    <a:solidFill>
                      <a:srgbClr val="F8FAFC"/>
                    </a:solidFill>
                  </a:tcPr>
                </a:tc>
                <a:tc>
                  <a:txBody>
                    <a:bodyPr/>
                    <a:lstStyle/>
                    <a:p>
                      <a:pPr algn="ctr">
                        <a:defRPr sz="1000">
                          <a:solidFill>
                            <a:srgbClr val="1E293B"/>
                          </a:solidFill>
                          <a:latin typeface="Segoe UI"/>
                        </a:defRPr>
                      </a:pPr>
                      <a:r>
                        <a:t>2.46 baths</a:t>
                      </a:r>
                    </a:p>
                  </a:txBody>
                  <a:tcPr>
                    <a:solidFill>
                      <a:srgbClr val="F8FAFC"/>
                    </a:solidFill>
                  </a:tcPr>
                </a:tc>
                <a:tc>
                  <a:txBody>
                    <a:bodyPr/>
                    <a:lstStyle/>
                    <a:p>
                      <a:pPr algn="ctr">
                        <a:defRPr sz="1000">
                          <a:solidFill>
                            <a:srgbClr val="1E293B"/>
                          </a:solidFill>
                          <a:latin typeface="Segoe UI"/>
                        </a:defRPr>
                      </a:pPr>
                      <a:r>
                        <a:t>$1,462.56</a:t>
                      </a:r>
                    </a:p>
                  </a:txBody>
                  <a:tcPr>
                    <a:solidFill>
                      <a:srgbClr val="F8FAFC"/>
                    </a:solidFill>
                  </a:tcPr>
                </a:tc>
                <a:tc>
                  <a:txBody>
                    <a:bodyPr/>
                    <a:lstStyle/>
                    <a:p>
                      <a:pPr algn="ctr">
                        <a:defRPr sz="1000">
                          <a:solidFill>
                            <a:srgbClr val="1E293B"/>
                          </a:solidFill>
                          <a:latin typeface="Segoe UI"/>
                        </a:defRPr>
                      </a:pPr>
                      <a:r>
                        <a:t>High Land Premium</a:t>
                      </a:r>
                    </a:p>
                  </a:txBody>
                  <a:tcPr>
                    <a:solidFill>
                      <a:srgbClr val="F8FAFC"/>
                    </a:solidFill>
                  </a:tcPr>
                </a:tc>
              </a:tr>
              <a:tr h="587828">
                <a:tc>
                  <a:txBody>
                    <a:bodyPr/>
                    <a:lstStyle/>
                    <a:p>
                      <a:pPr algn="l">
                        <a:defRPr sz="1000">
                          <a:solidFill>
                            <a:srgbClr val="1E293B"/>
                          </a:solidFill>
                          <a:latin typeface="Segoe UI"/>
                        </a:defRPr>
                      </a:pPr>
                      <a:r>
                        <a:t>Single family</a:t>
                      </a:r>
                    </a:p>
                  </a:txBody>
                  <a:tcPr>
                    <a:solidFill>
                      <a:srgbClr val="FFFFFF"/>
                    </a:solidFill>
                  </a:tcPr>
                </a:tc>
                <a:tc>
                  <a:txBody>
                    <a:bodyPr/>
                    <a:lstStyle/>
                    <a:p>
                      <a:pPr algn="ctr">
                        <a:defRPr sz="1000">
                          <a:solidFill>
                            <a:srgbClr val="1E293B"/>
                          </a:solidFill>
                          <a:latin typeface="Segoe UI"/>
                        </a:defRPr>
                      </a:pPr>
                      <a:r>
                        <a:t>2,202 sqft</a:t>
                      </a:r>
                    </a:p>
                  </a:txBody>
                  <a:tcPr>
                    <a:solidFill>
                      <a:srgbClr val="FFFFFF"/>
                    </a:solidFill>
                  </a:tcPr>
                </a:tc>
                <a:tc>
                  <a:txBody>
                    <a:bodyPr/>
                    <a:lstStyle/>
                    <a:p>
                      <a:pPr algn="ctr">
                        <a:defRPr sz="1000">
                          <a:solidFill>
                            <a:srgbClr val="1E293B"/>
                          </a:solidFill>
                          <a:latin typeface="Segoe UI"/>
                        </a:defRPr>
                      </a:pPr>
                      <a:r>
                        <a:t>2.28 baths</a:t>
                      </a:r>
                    </a:p>
                  </a:txBody>
                  <a:tcPr>
                    <a:solidFill>
                      <a:srgbClr val="FFFFFF"/>
                    </a:solidFill>
                  </a:tcPr>
                </a:tc>
                <a:tc>
                  <a:txBody>
                    <a:bodyPr/>
                    <a:lstStyle/>
                    <a:p>
                      <a:pPr algn="ctr">
                        <a:defRPr sz="1000">
                          <a:solidFill>
                            <a:srgbClr val="1E293B"/>
                          </a:solidFill>
                          <a:latin typeface="Segoe UI"/>
                        </a:defRPr>
                      </a:pPr>
                      <a:r>
                        <a:t>$365.97</a:t>
                      </a:r>
                    </a:p>
                  </a:txBody>
                  <a:tcPr>
                    <a:solidFill>
                      <a:srgbClr val="FFFFFF"/>
                    </a:solidFill>
                  </a:tcPr>
                </a:tc>
                <a:tc>
                  <a:txBody>
                    <a:bodyPr/>
                    <a:lstStyle/>
                    <a:p>
                      <a:pPr algn="ctr">
                        <a:defRPr sz="1000">
                          <a:solidFill>
                            <a:srgbClr val="1E293B"/>
                          </a:solidFill>
                          <a:latin typeface="Segoe UI"/>
                        </a:defRPr>
                      </a:pPr>
                      <a:r>
                        <a:t>Core Benchmark</a:t>
                      </a:r>
                    </a:p>
                  </a:txBody>
                  <a:tcPr>
                    <a:solidFill>
                      <a:srgbClr val="FFFFFF"/>
                    </a:solidFill>
                  </a:tcPr>
                </a:tc>
              </a:tr>
              <a:tr h="587828">
                <a:tc>
                  <a:txBody>
                    <a:bodyPr/>
                    <a:lstStyle/>
                    <a:p>
                      <a:pPr algn="l">
                        <a:defRPr sz="1000">
                          <a:solidFill>
                            <a:srgbClr val="1E293B"/>
                          </a:solidFill>
                          <a:latin typeface="Segoe UI"/>
                        </a:defRPr>
                      </a:pPr>
                      <a:r>
                        <a:t>Townhomes</a:t>
                      </a:r>
                    </a:p>
                  </a:txBody>
                  <a:tcPr>
                    <a:solidFill>
                      <a:srgbClr val="F8FAFC"/>
                    </a:solidFill>
                  </a:tcPr>
                </a:tc>
                <a:tc>
                  <a:txBody>
                    <a:bodyPr/>
                    <a:lstStyle/>
                    <a:p>
                      <a:pPr algn="ctr">
                        <a:defRPr sz="1000">
                          <a:solidFill>
                            <a:srgbClr val="1E293B"/>
                          </a:solidFill>
                          <a:latin typeface="Segoe UI"/>
                        </a:defRPr>
                      </a:pPr>
                      <a:r>
                        <a:t>1,575 sqft</a:t>
                      </a:r>
                    </a:p>
                  </a:txBody>
                  <a:tcPr>
                    <a:solidFill>
                      <a:srgbClr val="F8FAFC"/>
                    </a:solidFill>
                  </a:tcPr>
                </a:tc>
                <a:tc>
                  <a:txBody>
                    <a:bodyPr/>
                    <a:lstStyle/>
                    <a:p>
                      <a:pPr algn="ctr">
                        <a:defRPr sz="1000">
                          <a:solidFill>
                            <a:srgbClr val="1E293B"/>
                          </a:solidFill>
                          <a:latin typeface="Segoe UI"/>
                        </a:defRPr>
                      </a:pPr>
                      <a:r>
                        <a:t>2.18 baths</a:t>
                      </a:r>
                    </a:p>
                  </a:txBody>
                  <a:tcPr>
                    <a:solidFill>
                      <a:srgbClr val="F8FAFC"/>
                    </a:solidFill>
                  </a:tcPr>
                </a:tc>
                <a:tc>
                  <a:txBody>
                    <a:bodyPr/>
                    <a:lstStyle/>
                    <a:p>
                      <a:pPr algn="ctr">
                        <a:defRPr sz="1000">
                          <a:solidFill>
                            <a:srgbClr val="1E293B"/>
                          </a:solidFill>
                          <a:latin typeface="Segoe UI"/>
                        </a:defRPr>
                      </a:pPr>
                      <a:r>
                        <a:t>$316.13</a:t>
                      </a:r>
                    </a:p>
                  </a:txBody>
                  <a:tcPr>
                    <a:solidFill>
                      <a:srgbClr val="F8FAFC"/>
                    </a:solidFill>
                  </a:tcPr>
                </a:tc>
                <a:tc>
                  <a:txBody>
                    <a:bodyPr/>
                    <a:lstStyle/>
                    <a:p>
                      <a:pPr algn="ctr">
                        <a:defRPr sz="1000">
                          <a:solidFill>
                            <a:srgbClr val="1E293B"/>
                          </a:solidFill>
                          <a:latin typeface="Segoe UI"/>
                        </a:defRPr>
                      </a:pPr>
                      <a:r>
                        <a:t>Efficient Urban Layout</a:t>
                      </a:r>
                    </a:p>
                  </a:txBody>
                  <a:tcPr>
                    <a:solidFill>
                      <a:srgbClr val="F8FAFC"/>
                    </a:solidFill>
                  </a:tcPr>
                </a:tc>
              </a:tr>
              <a:tr h="587828">
                <a:tc>
                  <a:txBody>
                    <a:bodyPr/>
                    <a:lstStyle/>
                    <a:p>
                      <a:pPr algn="l">
                        <a:defRPr sz="1000">
                          <a:solidFill>
                            <a:srgbClr val="1E293B"/>
                          </a:solidFill>
                          <a:latin typeface="Segoe UI"/>
                        </a:defRPr>
                      </a:pPr>
                      <a:r>
                        <a:t>Condominiums</a:t>
                      </a:r>
                    </a:p>
                  </a:txBody>
                  <a:tcPr>
                    <a:solidFill>
                      <a:srgbClr val="FFFFFF"/>
                    </a:solidFill>
                  </a:tcPr>
                </a:tc>
                <a:tc>
                  <a:txBody>
                    <a:bodyPr/>
                    <a:lstStyle/>
                    <a:p>
                      <a:pPr algn="ctr">
                        <a:defRPr sz="1000">
                          <a:solidFill>
                            <a:srgbClr val="1E293B"/>
                          </a:solidFill>
                          <a:latin typeface="Segoe UI"/>
                        </a:defRPr>
                      </a:pPr>
                      <a:r>
                        <a:t>1,160 sqft</a:t>
                      </a:r>
                    </a:p>
                  </a:txBody>
                  <a:tcPr>
                    <a:solidFill>
                      <a:srgbClr val="FFFFFF"/>
                    </a:solidFill>
                  </a:tcPr>
                </a:tc>
                <a:tc>
                  <a:txBody>
                    <a:bodyPr/>
                    <a:lstStyle/>
                    <a:p>
                      <a:pPr algn="ctr">
                        <a:defRPr sz="1000">
                          <a:solidFill>
                            <a:srgbClr val="1E293B"/>
                          </a:solidFill>
                          <a:latin typeface="Segoe UI"/>
                        </a:defRPr>
                      </a:pPr>
                      <a:r>
                        <a:t>1.65 baths</a:t>
                      </a:r>
                    </a:p>
                  </a:txBody>
                  <a:tcPr>
                    <a:solidFill>
                      <a:srgbClr val="FFFFFF"/>
                    </a:solidFill>
                  </a:tcPr>
                </a:tc>
                <a:tc>
                  <a:txBody>
                    <a:bodyPr/>
                    <a:lstStyle/>
                    <a:p>
                      <a:pPr algn="ctr">
                        <a:defRPr sz="1000">
                          <a:solidFill>
                            <a:srgbClr val="1E293B"/>
                          </a:solidFill>
                          <a:latin typeface="Segoe UI"/>
                        </a:defRPr>
                      </a:pPr>
                      <a:r>
                        <a:t>$356.21</a:t>
                      </a:r>
                    </a:p>
                  </a:txBody>
                  <a:tcPr>
                    <a:solidFill>
                      <a:srgbClr val="FFFFFF"/>
                    </a:solidFill>
                  </a:tcPr>
                </a:tc>
                <a:tc>
                  <a:txBody>
                    <a:bodyPr/>
                    <a:lstStyle/>
                    <a:p>
                      <a:pPr algn="ctr">
                        <a:defRPr sz="1000">
                          <a:solidFill>
                            <a:srgbClr val="1E293B"/>
                          </a:solidFill>
                          <a:latin typeface="Segoe UI"/>
                        </a:defRPr>
                      </a:pPr>
                      <a:r>
                        <a:t>Compact Footprint</a:t>
                      </a:r>
                    </a:p>
                  </a:txBody>
                  <a:tcPr>
                    <a:solidFill>
                      <a:srgbClr val="FFFFFF"/>
                    </a:solidFill>
                  </a:tcPr>
                </a:tc>
              </a:tr>
              <a:tr h="587832">
                <a:tc>
                  <a:txBody>
                    <a:bodyPr/>
                    <a:lstStyle/>
                    <a:p>
                      <a:pPr algn="l">
                        <a:defRPr sz="1000" b="1">
                          <a:solidFill>
                            <a:srgbClr val="0F172A"/>
                          </a:solidFill>
                          <a:latin typeface="Segoe UI"/>
                        </a:defRPr>
                      </a:pPr>
                      <a:r>
                        <a:t>Statewide Total</a:t>
                      </a:r>
                    </a:p>
                  </a:txBody>
                  <a:tcPr>
                    <a:solidFill>
                      <a:srgbClr val="F1F5F9"/>
                    </a:solidFill>
                  </a:tcPr>
                </a:tc>
                <a:tc>
                  <a:txBody>
                    <a:bodyPr/>
                    <a:lstStyle/>
                    <a:p>
                      <a:pPr algn="ctr">
                        <a:defRPr sz="1000" b="1">
                          <a:solidFill>
                            <a:srgbClr val="0F172A"/>
                          </a:solidFill>
                          <a:latin typeface="Segoe UI"/>
                        </a:defRPr>
                      </a:pPr>
                      <a:r>
                        <a:t>2,143 sqft</a:t>
                      </a:r>
                    </a:p>
                  </a:txBody>
                  <a:tcPr>
                    <a:solidFill>
                      <a:srgbClr val="F1F5F9"/>
                    </a:solidFill>
                  </a:tcPr>
                </a:tc>
                <a:tc>
                  <a:txBody>
                    <a:bodyPr/>
                    <a:lstStyle/>
                    <a:p>
                      <a:pPr algn="ctr">
                        <a:defRPr sz="1000" b="1">
                          <a:solidFill>
                            <a:srgbClr val="0F172A"/>
                          </a:solidFill>
                          <a:latin typeface="Segoe UI"/>
                        </a:defRPr>
                      </a:pPr>
                      <a:r>
                        <a:t>2.26 baths</a:t>
                      </a:r>
                    </a:p>
                  </a:txBody>
                  <a:tcPr>
                    <a:solidFill>
                      <a:srgbClr val="F1F5F9"/>
                    </a:solidFill>
                  </a:tcPr>
                </a:tc>
                <a:tc>
                  <a:txBody>
                    <a:bodyPr/>
                    <a:lstStyle/>
                    <a:p>
                      <a:pPr algn="ctr">
                        <a:defRPr sz="1000" b="1">
                          <a:solidFill>
                            <a:srgbClr val="0F172A"/>
                          </a:solidFill>
                          <a:latin typeface="Segoe UI"/>
                        </a:defRPr>
                      </a:pPr>
                      <a:r>
                        <a:t>$365.74</a:t>
                      </a:r>
                    </a:p>
                  </a:txBody>
                  <a:tcPr>
                    <a:solidFill>
                      <a:srgbClr val="F1F5F9"/>
                    </a:solidFill>
                  </a:tcPr>
                </a:tc>
                <a:tc>
                  <a:txBody>
                    <a:bodyPr/>
                    <a:lstStyle/>
                    <a:p>
                      <a:pPr algn="ctr">
                        <a:defRPr sz="1000" b="1">
                          <a:solidFill>
                            <a:srgbClr val="0F172A"/>
                          </a:solidFill>
                          <a:latin typeface="Segoe UI"/>
                        </a:defRPr>
                      </a:pPr>
                      <a:r>
                        <a:t>Market Standard</a:t>
                      </a:r>
                    </a:p>
                  </a:txBody>
                  <a:tcPr>
                    <a:solidFill>
                      <a:srgbClr val="F1F5F9"/>
                    </a:solidFill>
                  </a:tcPr>
                </a:tc>
              </a:tr>
            </a:tbl>
          </a:graphicData>
        </a:graphic>
      </p:graphicFrame>
      <p:sp>
        <p:nvSpPr>
          <p:cNvPr id="4" name="Rectangle 3"/>
          <p:cNvSpPr/>
          <p:nvPr/>
        </p:nvSpPr>
        <p:spPr>
          <a:xfrm>
            <a:off x="7863840" y="1645920"/>
            <a:ext cx="3566160" cy="41148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0" y="1828800"/>
            <a:ext cx="3200400" cy="3749039"/>
          </a:xfrm>
          <a:prstGeom prst="rect">
            <a:avLst/>
          </a:prstGeom>
          <a:noFill/>
        </p:spPr>
        <p:txBody>
          <a:bodyPr wrap="square">
            <a:spAutoFit/>
          </a:bodyPr>
          <a:lstStyle/>
          <a:p>
            <a:pPr>
              <a:defRPr sz="1500" b="1">
                <a:solidFill>
                  <a:srgbClr val="0F172A"/>
                </a:solidFill>
                <a:latin typeface="Segoe UI"/>
              </a:defRPr>
            </a:pPr>
            <a:r>
              <a:t>Unit Economic Insights</a:t>
            </a:r>
          </a:p>
          <a:p>
            <a:pPr>
              <a:spcBef>
                <a:spcPts val="800"/>
              </a:spcBef>
              <a:defRPr sz="1000">
                <a:solidFill>
                  <a:srgbClr val="1E293B"/>
                </a:solidFill>
                <a:latin typeface="Segoe UI"/>
              </a:defRPr>
            </a:pPr>
            <a:r>
              <a:t>Multi-Family Economies of Scale: At 4,161 average sqft and 4.64 baths, multi-family properties offer the lowest cost per square foot ($266.70), reflecting investor focus on rentable yield over premium finishes.</a:t>
            </a:r>
          </a:p>
          <a:p>
            <a:pPr>
              <a:spcBef>
                <a:spcPts val="800"/>
              </a:spcBef>
              <a:defRPr sz="1000">
                <a:solidFill>
                  <a:srgbClr val="1E293B"/>
                </a:solidFill>
                <a:latin typeface="Segoe UI"/>
              </a:defRPr>
            </a:pPr>
            <a:r>
              <a:t>Farm Outlier Dynamics: Farm price/sqft ($1,462.56) is heavily skewed because listing valuations include raw acreage and outbuildings not captured in interior residential square footage.</a:t>
            </a:r>
          </a:p>
          <a:p>
            <a:pPr>
              <a:spcBef>
                <a:spcPts val="800"/>
              </a:spcBef>
              <a:defRPr sz="1000">
                <a:solidFill>
                  <a:srgbClr val="1E293B"/>
                </a:solidFill>
                <a:latin typeface="Segoe UI"/>
              </a:defRPr>
            </a:pPr>
            <a:r>
              <a:t>Single Family vs Townhomes: Townhomes are priced at a $50/sqft discount ($316 vs $366) compared to standalone single family homes, representing strong value for budget-conscious buyers.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Construction Eras and Historical Valuation Trends</a:t>
            </a:r>
          </a:p>
          <a:p>
            <a:pPr>
              <a:spcBef>
                <a:spcPts val="400"/>
              </a:spcBef>
              <a:defRPr sz="1300">
                <a:solidFill>
                  <a:srgbClr val="64748B"/>
                </a:solidFill>
                <a:latin typeface="Segoe UI"/>
              </a:defRPr>
            </a:pPr>
            <a:r>
              <a:t>Analyzing property counts and average list prices by decade of construction</a:t>
            </a:r>
          </a:p>
        </p:txBody>
      </p:sp>
      <p:graphicFrame>
        <p:nvGraphicFramePr>
          <p:cNvPr id="3" name="Table 2"/>
          <p:cNvGraphicFramePr>
            <a:graphicFrameLocks noGrp="1"/>
          </p:cNvGraphicFramePr>
          <p:nvPr/>
        </p:nvGraphicFramePr>
        <p:xfrm>
          <a:off x="731520" y="1645920"/>
          <a:ext cx="6858000" cy="4389120"/>
        </p:xfrm>
        <a:graphic>
          <a:graphicData uri="http://schemas.openxmlformats.org/drawingml/2006/table">
            <a:tbl>
              <a:tblPr firstRow="1" bandRow="1">
                <a:tableStyleId>{5C22544A-7EE6-4342-B048-85BDC9FD1C3A}</a:tableStyleId>
              </a:tblPr>
              <a:tblGrid>
                <a:gridCol w="1828800"/>
                <a:gridCol w="1463040"/>
                <a:gridCol w="1737360"/>
                <a:gridCol w="1828800"/>
              </a:tblGrid>
              <a:tr h="548640">
                <a:tc>
                  <a:txBody>
                    <a:bodyPr/>
                    <a:lstStyle/>
                    <a:p>
                      <a:pPr algn="l">
                        <a:defRPr sz="1100" b="1">
                          <a:solidFill>
                            <a:srgbClr val="FFFFFF"/>
                          </a:solidFill>
                          <a:latin typeface="Segoe UI"/>
                        </a:defRPr>
                      </a:pPr>
                      <a:r>
                        <a:t>Decade Era</a:t>
                      </a:r>
                    </a:p>
                  </a:txBody>
                  <a:tcPr>
                    <a:solidFill>
                      <a:srgbClr val="0F172A"/>
                    </a:solidFill>
                  </a:tcPr>
                </a:tc>
                <a:tc>
                  <a:txBody>
                    <a:bodyPr/>
                    <a:lstStyle/>
                    <a:p>
                      <a:pPr algn="ctr">
                        <a:defRPr sz="1100" b="1">
                          <a:solidFill>
                            <a:srgbClr val="FFFFFF"/>
                          </a:solidFill>
                          <a:latin typeface="Segoe UI"/>
                        </a:defRPr>
                      </a:pPr>
                      <a:r>
                        <a:t>Properties Listed</a:t>
                      </a:r>
                    </a:p>
                  </a:txBody>
                  <a:tcPr>
                    <a:solidFill>
                      <a:srgbClr val="0F172A"/>
                    </a:solidFill>
                  </a:tcPr>
                </a:tc>
                <a:tc>
                  <a:txBody>
                    <a:bodyPr/>
                    <a:lstStyle/>
                    <a:p>
                      <a:pPr algn="ctr">
                        <a:defRPr sz="1100" b="1">
                          <a:solidFill>
                            <a:srgbClr val="FFFFFF"/>
                          </a:solidFill>
                          <a:latin typeface="Segoe UI"/>
                        </a:defRPr>
                      </a:pPr>
                      <a:r>
                        <a:t>Average List Price</a:t>
                      </a:r>
                    </a:p>
                  </a:txBody>
                  <a:tcPr>
                    <a:solidFill>
                      <a:srgbClr val="0F172A"/>
                    </a:solidFill>
                  </a:tcPr>
                </a:tc>
                <a:tc>
                  <a:txBody>
                    <a:bodyPr/>
                    <a:lstStyle/>
                    <a:p>
                      <a:pPr algn="ctr">
                        <a:defRPr sz="1100" b="1">
                          <a:solidFill>
                            <a:srgbClr val="FFFFFF"/>
                          </a:solidFill>
                          <a:latin typeface="Segoe UI"/>
                        </a:defRPr>
                      </a:pPr>
                      <a:r>
                        <a:t>Pricing Premium / Trend</a:t>
                      </a:r>
                    </a:p>
                  </a:txBody>
                  <a:tcPr>
                    <a:solidFill>
                      <a:srgbClr val="0F172A"/>
                    </a:solidFill>
                  </a:tcPr>
                </a:tc>
              </a:tr>
              <a:tr h="548640">
                <a:tc>
                  <a:txBody>
                    <a:bodyPr/>
                    <a:lstStyle/>
                    <a:p>
                      <a:pPr algn="l">
                        <a:defRPr sz="1000">
                          <a:solidFill>
                            <a:srgbClr val="1E293B"/>
                          </a:solidFill>
                          <a:latin typeface="Segoe UI"/>
                        </a:defRPr>
                      </a:pPr>
                      <a:r>
                        <a:t>2020s Construction</a:t>
                      </a:r>
                    </a:p>
                  </a:txBody>
                  <a:tcPr>
                    <a:solidFill>
                      <a:srgbClr val="FFFFFF"/>
                    </a:solidFill>
                  </a:tcPr>
                </a:tc>
                <a:tc>
                  <a:txBody>
                    <a:bodyPr/>
                    <a:lstStyle/>
                    <a:p>
                      <a:pPr algn="ctr">
                        <a:defRPr sz="1000">
                          <a:solidFill>
                            <a:srgbClr val="1E293B"/>
                          </a:solidFill>
                          <a:latin typeface="Segoe UI"/>
                        </a:defRPr>
                      </a:pPr>
                      <a:r>
                        <a:t>1,400 units</a:t>
                      </a:r>
                    </a:p>
                  </a:txBody>
                  <a:tcPr>
                    <a:solidFill>
                      <a:srgbClr val="FFFFFF"/>
                    </a:solidFill>
                  </a:tcPr>
                </a:tc>
                <a:tc>
                  <a:txBody>
                    <a:bodyPr/>
                    <a:lstStyle/>
                    <a:p>
                      <a:pPr algn="ctr">
                        <a:defRPr sz="1000">
                          <a:solidFill>
                            <a:srgbClr val="1E293B"/>
                          </a:solidFill>
                          <a:latin typeface="Segoe UI"/>
                        </a:defRPr>
                      </a:pPr>
                      <a:r>
                        <a:t>$814,399</a:t>
                      </a:r>
                    </a:p>
                  </a:txBody>
                  <a:tcPr>
                    <a:solidFill>
                      <a:srgbClr val="FFFFFF"/>
                    </a:solidFill>
                  </a:tcPr>
                </a:tc>
                <a:tc>
                  <a:txBody>
                    <a:bodyPr/>
                    <a:lstStyle/>
                    <a:p>
                      <a:pPr algn="ctr">
                        <a:defRPr sz="1000">
                          <a:solidFill>
                            <a:srgbClr val="1E293B"/>
                          </a:solidFill>
                          <a:latin typeface="Segoe UI"/>
                        </a:defRPr>
                      </a:pPr>
                      <a:r>
                        <a:t>Modern Build Premium</a:t>
                      </a:r>
                    </a:p>
                  </a:txBody>
                  <a:tcPr>
                    <a:solidFill>
                      <a:srgbClr val="FFFFFF"/>
                    </a:solidFill>
                  </a:tcPr>
                </a:tc>
              </a:tr>
              <a:tr h="548640">
                <a:tc>
                  <a:txBody>
                    <a:bodyPr/>
                    <a:lstStyle/>
                    <a:p>
                      <a:pPr algn="l">
                        <a:defRPr sz="1000">
                          <a:solidFill>
                            <a:srgbClr val="1E293B"/>
                          </a:solidFill>
                          <a:latin typeface="Segoe UI"/>
                        </a:defRPr>
                      </a:pPr>
                      <a:r>
                        <a:t>2010s Decade</a:t>
                      </a:r>
                    </a:p>
                  </a:txBody>
                  <a:tcPr>
                    <a:solidFill>
                      <a:srgbClr val="F8FAFC"/>
                    </a:solidFill>
                  </a:tcPr>
                </a:tc>
                <a:tc>
                  <a:txBody>
                    <a:bodyPr/>
                    <a:lstStyle/>
                    <a:p>
                      <a:pPr algn="ctr">
                        <a:defRPr sz="1000">
                          <a:solidFill>
                            <a:srgbClr val="1E293B"/>
                          </a:solidFill>
                          <a:latin typeface="Segoe UI"/>
                        </a:defRPr>
                      </a:pPr>
                      <a:r>
                        <a:t>548 units</a:t>
                      </a:r>
                    </a:p>
                  </a:txBody>
                  <a:tcPr>
                    <a:solidFill>
                      <a:srgbClr val="F8FAFC"/>
                    </a:solidFill>
                  </a:tcPr>
                </a:tc>
                <a:tc>
                  <a:txBody>
                    <a:bodyPr/>
                    <a:lstStyle/>
                    <a:p>
                      <a:pPr algn="ctr">
                        <a:defRPr sz="1000">
                          <a:solidFill>
                            <a:srgbClr val="1E293B"/>
                          </a:solidFill>
                          <a:latin typeface="Segoe UI"/>
                        </a:defRPr>
                      </a:pPr>
                      <a:r>
                        <a:t>$869,580</a:t>
                      </a:r>
                    </a:p>
                  </a:txBody>
                  <a:tcPr>
                    <a:solidFill>
                      <a:srgbClr val="F8FAFC"/>
                    </a:solidFill>
                  </a:tcPr>
                </a:tc>
                <a:tc>
                  <a:txBody>
                    <a:bodyPr/>
                    <a:lstStyle/>
                    <a:p>
                      <a:pPr algn="ctr">
                        <a:defRPr sz="1000">
                          <a:solidFill>
                            <a:srgbClr val="1E293B"/>
                          </a:solidFill>
                          <a:latin typeface="Segoe UI"/>
                        </a:defRPr>
                      </a:pPr>
                      <a:r>
                        <a:t>High-End Quality Peak</a:t>
                      </a:r>
                    </a:p>
                  </a:txBody>
                  <a:tcPr>
                    <a:solidFill>
                      <a:srgbClr val="F8FAFC"/>
                    </a:solidFill>
                  </a:tcPr>
                </a:tc>
              </a:tr>
              <a:tr h="548640">
                <a:tc>
                  <a:txBody>
                    <a:bodyPr/>
                    <a:lstStyle/>
                    <a:p>
                      <a:pPr algn="l">
                        <a:defRPr sz="1000">
                          <a:solidFill>
                            <a:srgbClr val="1E293B"/>
                          </a:solidFill>
                          <a:latin typeface="Segoe UI"/>
                        </a:defRPr>
                      </a:pPr>
                      <a:r>
                        <a:t>2000s Expansion</a:t>
                      </a:r>
                    </a:p>
                  </a:txBody>
                  <a:tcPr>
                    <a:solidFill>
                      <a:srgbClr val="FFFFFF"/>
                    </a:solidFill>
                  </a:tcPr>
                </a:tc>
                <a:tc>
                  <a:txBody>
                    <a:bodyPr/>
                    <a:lstStyle/>
                    <a:p>
                      <a:pPr algn="ctr">
                        <a:defRPr sz="1000">
                          <a:solidFill>
                            <a:srgbClr val="1E293B"/>
                          </a:solidFill>
                          <a:latin typeface="Segoe UI"/>
                        </a:defRPr>
                      </a:pPr>
                      <a:r>
                        <a:t>1,218 units</a:t>
                      </a:r>
                    </a:p>
                  </a:txBody>
                  <a:tcPr>
                    <a:solidFill>
                      <a:srgbClr val="FFFFFF"/>
                    </a:solidFill>
                  </a:tcPr>
                </a:tc>
                <a:tc>
                  <a:txBody>
                    <a:bodyPr/>
                    <a:lstStyle/>
                    <a:p>
                      <a:pPr algn="ctr">
                        <a:defRPr sz="1000">
                          <a:solidFill>
                            <a:srgbClr val="1E293B"/>
                          </a:solidFill>
                          <a:latin typeface="Segoe UI"/>
                        </a:defRPr>
                      </a:pPr>
                      <a:r>
                        <a:t>$788,815</a:t>
                      </a:r>
                    </a:p>
                  </a:txBody>
                  <a:tcPr>
                    <a:solidFill>
                      <a:srgbClr val="FFFFFF"/>
                    </a:solidFill>
                  </a:tcPr>
                </a:tc>
                <a:tc>
                  <a:txBody>
                    <a:bodyPr/>
                    <a:lstStyle/>
                    <a:p>
                      <a:pPr algn="ctr">
                        <a:defRPr sz="1000">
                          <a:solidFill>
                            <a:srgbClr val="1E293B"/>
                          </a:solidFill>
                          <a:latin typeface="Segoe UI"/>
                        </a:defRPr>
                      </a:pPr>
                      <a:r>
                        <a:t>Suburban Growth Cycle</a:t>
                      </a:r>
                    </a:p>
                  </a:txBody>
                  <a:tcPr>
                    <a:solidFill>
                      <a:srgbClr val="FFFFFF"/>
                    </a:solidFill>
                  </a:tcPr>
                </a:tc>
              </a:tr>
              <a:tr h="548640">
                <a:tc>
                  <a:txBody>
                    <a:bodyPr/>
                    <a:lstStyle/>
                    <a:p>
                      <a:pPr algn="l">
                        <a:defRPr sz="1000">
                          <a:solidFill>
                            <a:srgbClr val="1E293B"/>
                          </a:solidFill>
                          <a:latin typeface="Segoe UI"/>
                        </a:defRPr>
                      </a:pPr>
                      <a:r>
                        <a:t>1990s Decade</a:t>
                      </a:r>
                    </a:p>
                  </a:txBody>
                  <a:tcPr>
                    <a:solidFill>
                      <a:srgbClr val="F8FAFC"/>
                    </a:solidFill>
                  </a:tcPr>
                </a:tc>
                <a:tc>
                  <a:txBody>
                    <a:bodyPr/>
                    <a:lstStyle/>
                    <a:p>
                      <a:pPr algn="ctr">
                        <a:defRPr sz="1000">
                          <a:solidFill>
                            <a:srgbClr val="1E293B"/>
                          </a:solidFill>
                          <a:latin typeface="Segoe UI"/>
                        </a:defRPr>
                      </a:pPr>
                      <a:r>
                        <a:t>885 units</a:t>
                      </a:r>
                    </a:p>
                  </a:txBody>
                  <a:tcPr>
                    <a:solidFill>
                      <a:srgbClr val="F8FAFC"/>
                    </a:solidFill>
                  </a:tcPr>
                </a:tc>
                <a:tc>
                  <a:txBody>
                    <a:bodyPr/>
                    <a:lstStyle/>
                    <a:p>
                      <a:pPr algn="ctr">
                        <a:defRPr sz="1000">
                          <a:solidFill>
                            <a:srgbClr val="1E293B"/>
                          </a:solidFill>
                          <a:latin typeface="Segoe UI"/>
                        </a:defRPr>
                      </a:pPr>
                      <a:r>
                        <a:t>$788,504</a:t>
                      </a:r>
                    </a:p>
                  </a:txBody>
                  <a:tcPr>
                    <a:solidFill>
                      <a:srgbClr val="F8FAFC"/>
                    </a:solidFill>
                  </a:tcPr>
                </a:tc>
                <a:tc>
                  <a:txBody>
                    <a:bodyPr/>
                    <a:lstStyle/>
                    <a:p>
                      <a:pPr algn="ctr">
                        <a:defRPr sz="1000">
                          <a:solidFill>
                            <a:srgbClr val="1E293B"/>
                          </a:solidFill>
                          <a:latin typeface="Segoe UI"/>
                        </a:defRPr>
                      </a:pPr>
                      <a:r>
                        <a:t>Stable Mature Housing</a:t>
                      </a:r>
                    </a:p>
                  </a:txBody>
                  <a:tcPr>
                    <a:solidFill>
                      <a:srgbClr val="F8FAFC"/>
                    </a:solidFill>
                  </a:tcPr>
                </a:tc>
              </a:tr>
              <a:tr h="548640">
                <a:tc>
                  <a:txBody>
                    <a:bodyPr/>
                    <a:lstStyle/>
                    <a:p>
                      <a:pPr algn="l">
                        <a:defRPr sz="1000">
                          <a:solidFill>
                            <a:srgbClr val="1E293B"/>
                          </a:solidFill>
                          <a:latin typeface="Segoe UI"/>
                        </a:defRPr>
                      </a:pPr>
                      <a:r>
                        <a:t>1970s Build Boom</a:t>
                      </a:r>
                    </a:p>
                  </a:txBody>
                  <a:tcPr>
                    <a:solidFill>
                      <a:srgbClr val="FFFFFF"/>
                    </a:solidFill>
                  </a:tcPr>
                </a:tc>
                <a:tc>
                  <a:txBody>
                    <a:bodyPr/>
                    <a:lstStyle/>
                    <a:p>
                      <a:pPr algn="ctr">
                        <a:defRPr sz="1000">
                          <a:solidFill>
                            <a:srgbClr val="1E293B"/>
                          </a:solidFill>
                          <a:latin typeface="Segoe UI"/>
                        </a:defRPr>
                      </a:pPr>
                      <a:r>
                        <a:t>955 units</a:t>
                      </a:r>
                    </a:p>
                  </a:txBody>
                  <a:tcPr>
                    <a:solidFill>
                      <a:srgbClr val="FFFFFF"/>
                    </a:solidFill>
                  </a:tcPr>
                </a:tc>
                <a:tc>
                  <a:txBody>
                    <a:bodyPr/>
                    <a:lstStyle/>
                    <a:p>
                      <a:pPr algn="ctr">
                        <a:defRPr sz="1000">
                          <a:solidFill>
                            <a:srgbClr val="1E293B"/>
                          </a:solidFill>
                          <a:latin typeface="Segoe UI"/>
                        </a:defRPr>
                      </a:pPr>
                      <a:r>
                        <a:t>$667,023</a:t>
                      </a:r>
                    </a:p>
                  </a:txBody>
                  <a:tcPr>
                    <a:solidFill>
                      <a:srgbClr val="FFFFFF"/>
                    </a:solidFill>
                  </a:tcPr>
                </a:tc>
                <a:tc>
                  <a:txBody>
                    <a:bodyPr/>
                    <a:lstStyle/>
                    <a:p>
                      <a:pPr algn="ctr">
                        <a:defRPr sz="1000">
                          <a:solidFill>
                            <a:srgbClr val="1E293B"/>
                          </a:solidFill>
                          <a:latin typeface="Segoe UI"/>
                        </a:defRPr>
                      </a:pPr>
                      <a:r>
                        <a:t>Mid-Century Stock</a:t>
                      </a:r>
                    </a:p>
                  </a:txBody>
                  <a:tcPr>
                    <a:solidFill>
                      <a:srgbClr val="FFFFFF"/>
                    </a:solidFill>
                  </a:tcPr>
                </a:tc>
              </a:tr>
              <a:tr h="548640">
                <a:tc>
                  <a:txBody>
                    <a:bodyPr/>
                    <a:lstStyle/>
                    <a:p>
                      <a:pPr algn="l">
                        <a:defRPr sz="1000">
                          <a:solidFill>
                            <a:srgbClr val="1E293B"/>
                          </a:solidFill>
                          <a:latin typeface="Segoe UI"/>
                        </a:defRPr>
                      </a:pPr>
                      <a:r>
                        <a:t>1940s-1950s Post-War</a:t>
                      </a:r>
                    </a:p>
                  </a:txBody>
                  <a:tcPr>
                    <a:solidFill>
                      <a:srgbClr val="F8FAFC"/>
                    </a:solidFill>
                  </a:tcPr>
                </a:tc>
                <a:tc>
                  <a:txBody>
                    <a:bodyPr/>
                    <a:lstStyle/>
                    <a:p>
                      <a:pPr algn="ctr">
                        <a:defRPr sz="1000">
                          <a:solidFill>
                            <a:srgbClr val="1E293B"/>
                          </a:solidFill>
                          <a:latin typeface="Segoe UI"/>
                        </a:defRPr>
                      </a:pPr>
                      <a:r>
                        <a:t>896 units</a:t>
                      </a:r>
                    </a:p>
                  </a:txBody>
                  <a:tcPr>
                    <a:solidFill>
                      <a:srgbClr val="F8FAFC"/>
                    </a:solidFill>
                  </a:tcPr>
                </a:tc>
                <a:tc>
                  <a:txBody>
                    <a:bodyPr/>
                    <a:lstStyle/>
                    <a:p>
                      <a:pPr algn="ctr">
                        <a:defRPr sz="1000">
                          <a:solidFill>
                            <a:srgbClr val="1E293B"/>
                          </a:solidFill>
                          <a:latin typeface="Segoe UI"/>
                        </a:defRPr>
                      </a:pPr>
                      <a:r>
                        <a:t>$535,240</a:t>
                      </a:r>
                    </a:p>
                  </a:txBody>
                  <a:tcPr>
                    <a:solidFill>
                      <a:srgbClr val="F8FAFC"/>
                    </a:solidFill>
                  </a:tcPr>
                </a:tc>
                <a:tc>
                  <a:txBody>
                    <a:bodyPr/>
                    <a:lstStyle/>
                    <a:p>
                      <a:pPr algn="ctr">
                        <a:defRPr sz="1000">
                          <a:solidFill>
                            <a:srgbClr val="1E293B"/>
                          </a:solidFill>
                          <a:latin typeface="Segoe UI"/>
                        </a:defRPr>
                      </a:pPr>
                      <a:r>
                        <a:t>Entry Level Affordability</a:t>
                      </a:r>
                    </a:p>
                  </a:txBody>
                  <a:tcPr>
                    <a:solidFill>
                      <a:srgbClr val="F8FAFC"/>
                    </a:solidFill>
                  </a:tcPr>
                </a:tc>
              </a:tr>
              <a:tr h="548640">
                <a:tc>
                  <a:txBody>
                    <a:bodyPr/>
                    <a:lstStyle/>
                    <a:p>
                      <a:pPr algn="l">
                        <a:defRPr sz="1000">
                          <a:solidFill>
                            <a:srgbClr val="1E293B"/>
                          </a:solidFill>
                          <a:latin typeface="Segoe UI"/>
                        </a:defRPr>
                      </a:pPr>
                      <a:r>
                        <a:t>Pre-1930s Historic</a:t>
                      </a:r>
                    </a:p>
                  </a:txBody>
                  <a:tcPr>
                    <a:solidFill>
                      <a:srgbClr val="FFFFFF"/>
                    </a:solidFill>
                  </a:tcPr>
                </a:tc>
                <a:tc>
                  <a:txBody>
                    <a:bodyPr/>
                    <a:lstStyle/>
                    <a:p>
                      <a:pPr algn="ctr">
                        <a:defRPr sz="1000">
                          <a:solidFill>
                            <a:srgbClr val="1E293B"/>
                          </a:solidFill>
                          <a:latin typeface="Segoe UI"/>
                        </a:defRPr>
                      </a:pPr>
                      <a:r>
                        <a:t>835 units</a:t>
                      </a:r>
                    </a:p>
                  </a:txBody>
                  <a:tcPr>
                    <a:solidFill>
                      <a:srgbClr val="FFFFFF"/>
                    </a:solidFill>
                  </a:tcPr>
                </a:tc>
                <a:tc>
                  <a:txBody>
                    <a:bodyPr/>
                    <a:lstStyle/>
                    <a:p>
                      <a:pPr algn="ctr">
                        <a:defRPr sz="1000">
                          <a:solidFill>
                            <a:srgbClr val="1E293B"/>
                          </a:solidFill>
                          <a:latin typeface="Segoe UI"/>
                        </a:defRPr>
                      </a:pPr>
                      <a:r>
                        <a:t>$720,000+</a:t>
                      </a:r>
                    </a:p>
                  </a:txBody>
                  <a:tcPr>
                    <a:solidFill>
                      <a:srgbClr val="FFFFFF"/>
                    </a:solidFill>
                  </a:tcPr>
                </a:tc>
                <a:tc>
                  <a:txBody>
                    <a:bodyPr/>
                    <a:lstStyle/>
                    <a:p>
                      <a:pPr algn="ctr">
                        <a:defRPr sz="1000">
                          <a:solidFill>
                            <a:srgbClr val="1E293B"/>
                          </a:solidFill>
                          <a:latin typeface="Segoe UI"/>
                        </a:defRPr>
                      </a:pPr>
                      <a:r>
                        <a:t>Historic Architectural Value</a:t>
                      </a:r>
                    </a:p>
                  </a:txBody>
                  <a:tcPr>
                    <a:solidFill>
                      <a:srgbClr val="FFFFFF"/>
                    </a:solidFill>
                  </a:tcPr>
                </a:tc>
              </a:tr>
            </a:tbl>
          </a:graphicData>
        </a:graphic>
      </p:graphicFrame>
      <p:sp>
        <p:nvSpPr>
          <p:cNvPr id="4" name="Rectangle 3"/>
          <p:cNvSpPr/>
          <p:nvPr/>
        </p:nvSpPr>
        <p:spPr>
          <a:xfrm>
            <a:off x="7863840" y="1645920"/>
            <a:ext cx="356616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0" y="1828800"/>
            <a:ext cx="3200400" cy="4023360"/>
          </a:xfrm>
          <a:prstGeom prst="rect">
            <a:avLst/>
          </a:prstGeom>
          <a:noFill/>
        </p:spPr>
        <p:txBody>
          <a:bodyPr wrap="square">
            <a:spAutoFit/>
          </a:bodyPr>
          <a:lstStyle/>
          <a:p>
            <a:pPr>
              <a:defRPr sz="1500" b="1">
                <a:solidFill>
                  <a:srgbClr val="0F172A"/>
                </a:solidFill>
                <a:latin typeface="Segoe UI"/>
              </a:defRPr>
            </a:pPr>
            <a:r>
              <a:t>Historical Era Analysis</a:t>
            </a:r>
          </a:p>
          <a:p>
            <a:pPr>
              <a:spcBef>
                <a:spcPts val="800"/>
              </a:spcBef>
              <a:defRPr sz="1000">
                <a:solidFill>
                  <a:srgbClr val="1E293B"/>
                </a:solidFill>
                <a:latin typeface="Segoe UI"/>
              </a:defRPr>
            </a:pPr>
            <a:r>
              <a:t>New Construction Surge: Properties built in the 2020s represent the single largest modern era cohort (1,400 homes) with strong average valuation ($814k).</a:t>
            </a:r>
          </a:p>
          <a:p>
            <a:pPr>
              <a:spcBef>
                <a:spcPts val="800"/>
              </a:spcBef>
              <a:defRPr sz="1000">
                <a:solidFill>
                  <a:srgbClr val="1E293B"/>
                </a:solidFill>
                <a:latin typeface="Segoe UI"/>
              </a:defRPr>
            </a:pPr>
            <a:r>
              <a:t>2010s Premium: The 2010s decade exhibits the highest average list price ($869,580), reflecting modern master-planned communities and high-end suburban developments.</a:t>
            </a:r>
          </a:p>
          <a:p>
            <a:pPr>
              <a:spcBef>
                <a:spcPts val="800"/>
              </a:spcBef>
              <a:defRPr sz="1000">
                <a:solidFill>
                  <a:srgbClr val="1E293B"/>
                </a:solidFill>
                <a:latin typeface="Segoe UI"/>
              </a:defRPr>
            </a:pPr>
            <a:r>
              <a:t>Affordability Trough: 1940s and 1950s inventory presents the lowest pricing threshold (~$535k), marking prime opportunities for renovation and value-add equity expansion.</a:t>
            </a:r>
          </a:p>
          <a:p>
            <a:pPr>
              <a:spcBef>
                <a:spcPts val="800"/>
              </a:spcBef>
              <a:defRPr sz="1000">
                <a:solidFill>
                  <a:srgbClr val="1E293B"/>
                </a:solidFill>
                <a:latin typeface="Segoe UI"/>
              </a:defRPr>
            </a:pPr>
            <a:r>
              <a:t>Century-Old Longevity: Homes built between 1852 and 1920 maintain a price premium over mid-century homes due to urban core locations and preserved historic appeal.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Architectural Drivers: Stories and Garage Availability</a:t>
            </a:r>
          </a:p>
          <a:p>
            <a:pPr>
              <a:spcBef>
                <a:spcPts val="400"/>
              </a:spcBef>
              <a:defRPr sz="1300">
                <a:solidFill>
                  <a:srgbClr val="64748B"/>
                </a:solidFill>
                <a:latin typeface="Segoe UI"/>
              </a:defRPr>
            </a:pPr>
            <a:r>
              <a:t>Evaluating valuation premiums associated with vertical density and vehicle storage</a:t>
            </a:r>
          </a:p>
        </p:txBody>
      </p:sp>
      <p:sp>
        <p:nvSpPr>
          <p:cNvPr id="3" name="Rectangle 2"/>
          <p:cNvSpPr/>
          <p:nvPr/>
        </p:nvSpPr>
        <p:spPr>
          <a:xfrm>
            <a:off x="731520" y="1645920"/>
            <a:ext cx="512064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572000" cy="4023360"/>
          </a:xfrm>
          <a:prstGeom prst="rect">
            <a:avLst/>
          </a:prstGeom>
          <a:noFill/>
        </p:spPr>
        <p:txBody>
          <a:bodyPr wrap="square">
            <a:spAutoFit/>
          </a:bodyPr>
          <a:lstStyle/>
          <a:p>
            <a:pPr>
              <a:defRPr sz="1500" b="1">
                <a:solidFill>
                  <a:srgbClr val="0F172A"/>
                </a:solidFill>
                <a:latin typeface="Segoe UI"/>
              </a:defRPr>
            </a:pPr>
            <a:r>
              <a:t>Vertical Stories Pricing Progression (Q9)</a:t>
            </a:r>
          </a:p>
          <a:p>
            <a:pPr>
              <a:spcBef>
                <a:spcPts val="600"/>
              </a:spcBef>
              <a:defRPr sz="1000">
                <a:solidFill>
                  <a:srgbClr val="1E293B"/>
                </a:solidFill>
                <a:latin typeface="Segoe UI"/>
              </a:defRPr>
            </a:pPr>
            <a:r>
              <a:t>• 1 Story: $573,626 average list price (Baseline single-level living).</a:t>
            </a:r>
          </a:p>
          <a:p>
            <a:pPr>
              <a:spcBef>
                <a:spcPts val="600"/>
              </a:spcBef>
              <a:defRPr sz="1000">
                <a:solidFill>
                  <a:srgbClr val="1E293B"/>
                </a:solidFill>
                <a:latin typeface="Segoe UI"/>
              </a:defRPr>
            </a:pPr>
            <a:r>
              <a:t>• 2 Stories: $811,907 average list price (+41.5% premium over 1-story homes).</a:t>
            </a:r>
          </a:p>
          <a:p>
            <a:pPr>
              <a:spcBef>
                <a:spcPts val="600"/>
              </a:spcBef>
              <a:defRPr sz="1000">
                <a:solidFill>
                  <a:srgbClr val="1E293B"/>
                </a:solidFill>
                <a:latin typeface="Segoe UI"/>
              </a:defRPr>
            </a:pPr>
            <a:r>
              <a:t>• 3 Stories: $1,000,960 average list price (+23.3% premium over 2-story homes, crossing the million-dollar threshold).</a:t>
            </a:r>
          </a:p>
          <a:p>
            <a:pPr>
              <a:spcBef>
                <a:spcPts val="600"/>
              </a:spcBef>
              <a:defRPr sz="1000">
                <a:solidFill>
                  <a:srgbClr val="1E293B"/>
                </a:solidFill>
                <a:latin typeface="Segoe UI"/>
              </a:defRPr>
            </a:pPr>
            <a:r>
              <a:t>• 4 Stories: $1,384,321 average list price (High-end custom builds and urban luxury townhomes).</a:t>
            </a:r>
          </a:p>
          <a:p>
            <a:pPr>
              <a:spcBef>
                <a:spcPts val="600"/>
              </a:spcBef>
              <a:defRPr sz="1000">
                <a:solidFill>
                  <a:srgbClr val="1E293B"/>
                </a:solidFill>
                <a:latin typeface="Segoe UI"/>
              </a:defRPr>
            </a:pPr>
            <a:r>
              <a:t>• 5 Stories: $1,591,333 average list price (Luxury penthouse and multi-level complexes).</a:t>
            </a:r>
          </a:p>
          <a:p>
            <a:pPr>
              <a:spcBef>
                <a:spcPts val="600"/>
              </a:spcBef>
              <a:defRPr sz="1000">
                <a:solidFill>
                  <a:srgbClr val="1E293B"/>
                </a:solidFill>
                <a:latin typeface="Segoe UI"/>
              </a:defRPr>
            </a:pPr>
            <a:r>
              <a:t>• Strategic Takeaway: Each additional vertical level correlates with an average valuation escalation of approximately $200k to $250k.</a:t>
            </a:r>
          </a:p>
        </p:txBody>
      </p:sp>
      <p:sp>
        <p:nvSpPr>
          <p:cNvPr id="5" name="Rectangle 4"/>
          <p:cNvSpPr/>
          <p:nvPr/>
        </p:nvSpPr>
        <p:spPr>
          <a:xfrm>
            <a:off x="6309360" y="1645920"/>
            <a:ext cx="512064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828800"/>
            <a:ext cx="4572000" cy="4023360"/>
          </a:xfrm>
          <a:prstGeom prst="rect">
            <a:avLst/>
          </a:prstGeom>
          <a:noFill/>
        </p:spPr>
        <p:txBody>
          <a:bodyPr wrap="square">
            <a:spAutoFit/>
          </a:bodyPr>
          <a:lstStyle/>
          <a:p>
            <a:pPr>
              <a:defRPr sz="1500" b="1">
                <a:solidFill>
                  <a:srgbClr val="0F172A"/>
                </a:solidFill>
                <a:latin typeface="Segoe UI"/>
              </a:defRPr>
            </a:pPr>
            <a:r>
              <a:t>Garage Amenity Penetration (Q8)</a:t>
            </a:r>
          </a:p>
          <a:p>
            <a:pPr>
              <a:spcBef>
                <a:spcPts val="600"/>
              </a:spcBef>
              <a:defRPr sz="1000">
                <a:solidFill>
                  <a:srgbClr val="1E293B"/>
                </a:solidFill>
                <a:latin typeface="Segoe UI"/>
              </a:defRPr>
            </a:pPr>
            <a:r>
              <a:t>• Statewide Adoption: 6,441 properties (64.4%) feature enclosed garages, while 3,558 properties (35.6%) lack garage access.</a:t>
            </a:r>
          </a:p>
          <a:p>
            <a:pPr>
              <a:spcBef>
                <a:spcPts val="600"/>
              </a:spcBef>
              <a:defRPr sz="1000">
                <a:solidFill>
                  <a:srgbClr val="1E293B"/>
                </a:solidFill>
                <a:latin typeface="Segoe UI"/>
              </a:defRPr>
            </a:pPr>
            <a:r>
              <a:t>• Townhomes: Highest penetration at 86.5% (405 of 468 units have attached garages).</a:t>
            </a:r>
          </a:p>
          <a:p>
            <a:pPr>
              <a:spcBef>
                <a:spcPts val="600"/>
              </a:spcBef>
              <a:defRPr sz="1000">
                <a:solidFill>
                  <a:srgbClr val="1E293B"/>
                </a:solidFill>
                <a:latin typeface="Segoe UI"/>
              </a:defRPr>
            </a:pPr>
            <a:r>
              <a:t>• Single Family: 83.7% penetration (5,343 of 6,383 units have garages). Homes lacking garages in this segment suffer severe marketing liquidity penalties.</a:t>
            </a:r>
          </a:p>
          <a:p>
            <a:pPr>
              <a:spcBef>
                <a:spcPts val="600"/>
              </a:spcBef>
              <a:defRPr sz="1000">
                <a:solidFill>
                  <a:srgbClr val="1E293B"/>
                </a:solidFill>
                <a:latin typeface="Segoe UI"/>
              </a:defRPr>
            </a:pPr>
            <a:r>
              <a:t>• Condominiums: 60.1% penetration (507 of 843 units have dedicated garage space).</a:t>
            </a:r>
          </a:p>
          <a:p>
            <a:pPr>
              <a:spcBef>
                <a:spcPts val="600"/>
              </a:spcBef>
              <a:defRPr sz="1000">
                <a:solidFill>
                  <a:srgbClr val="1E293B"/>
                </a:solidFill>
                <a:latin typeface="Segoe UI"/>
              </a:defRPr>
            </a:pPr>
            <a:r>
              <a:t>• Agricultural &amp; Land: Only 17.7% of farms and 1.2% of raw land parcels record residential garage structures.</a:t>
            </a:r>
          </a:p>
          <a:p>
            <a:pPr>
              <a:spcBef>
                <a:spcPts val="600"/>
              </a:spcBef>
              <a:defRPr sz="1000">
                <a:solidFill>
                  <a:srgbClr val="1E293B"/>
                </a:solidFill>
                <a:latin typeface="Segoe UI"/>
              </a:defRPr>
            </a:pPr>
            <a:r>
              <a:t>• Strategic Takeaway: Garage parking is a baseline consumer requirement for over 83% of suburban single-family buyers.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Interactive Excel Presentation Dashboard</a:t>
            </a:r>
          </a:p>
          <a:p>
            <a:pPr>
              <a:spcBef>
                <a:spcPts val="400"/>
              </a:spcBef>
              <a:defRPr sz="1300">
                <a:solidFill>
                  <a:srgbClr val="64748B"/>
                </a:solidFill>
                <a:latin typeface="Segoe UI"/>
              </a:defRPr>
            </a:pPr>
            <a:r>
              <a:t>A fully linked 10-chart executive dashboard interface with synchronized slicers</a:t>
            </a:r>
          </a:p>
        </p:txBody>
      </p:sp>
      <p:sp>
        <p:nvSpPr>
          <p:cNvPr id="3" name="Rectangle 2"/>
          <p:cNvSpPr/>
          <p:nvPr/>
        </p:nvSpPr>
        <p:spPr>
          <a:xfrm>
            <a:off x="731520" y="1645920"/>
            <a:ext cx="338328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4023360"/>
          </a:xfrm>
          <a:prstGeom prst="rect">
            <a:avLst/>
          </a:prstGeom>
          <a:noFill/>
        </p:spPr>
        <p:txBody>
          <a:bodyPr wrap="square">
            <a:spAutoFit/>
          </a:bodyPr>
          <a:lstStyle/>
          <a:p>
            <a:pPr>
              <a:defRPr sz="1500" b="1">
                <a:solidFill>
                  <a:srgbClr val="0F172A"/>
                </a:solidFill>
                <a:latin typeface="Segoe UI"/>
              </a:defRPr>
            </a:pPr>
            <a:r>
              <a:t>Visual Composition</a:t>
            </a:r>
          </a:p>
          <a:p>
            <a:pPr>
              <a:spcBef>
                <a:spcPts val="1000"/>
              </a:spcBef>
              <a:defRPr sz="1100">
                <a:solidFill>
                  <a:srgbClr val="1E293B"/>
                </a:solidFill>
                <a:latin typeface="Segoe UI"/>
              </a:defRPr>
            </a:pPr>
            <a:r>
              <a:t>• 10 Synchronized Charts: Bar, Pie, Doughnut, Line, and Area charts mapped to the 10 core analytical questions.</a:t>
            </a:r>
          </a:p>
          <a:p>
            <a:pPr>
              <a:spcBef>
                <a:spcPts val="1000"/>
              </a:spcBef>
              <a:defRPr sz="1100">
                <a:solidFill>
                  <a:srgbClr val="1E293B"/>
                </a:solidFill>
                <a:latin typeface="Segoe UI"/>
              </a:defRPr>
            </a:pPr>
            <a:r>
              <a:t>• Executive Banner: Prominent header 'OREGON REAL ESTATE PRESENTATION DASHBOARD' establishing corporate polish.</a:t>
            </a:r>
          </a:p>
          <a:p>
            <a:pPr>
              <a:spcBef>
                <a:spcPts val="1000"/>
              </a:spcBef>
              <a:defRPr sz="1100">
                <a:solidFill>
                  <a:srgbClr val="1E293B"/>
                </a:solidFill>
                <a:latin typeface="Segoe UI"/>
              </a:defRPr>
            </a:pPr>
            <a:r>
              <a:t>• Card Metrics: Top-level summary totals displaying portfolio volume ($6.78B) and unit count (9,999).</a:t>
            </a:r>
          </a:p>
        </p:txBody>
      </p:sp>
      <p:sp>
        <p:nvSpPr>
          <p:cNvPr id="5" name="Rectangle 4"/>
          <p:cNvSpPr/>
          <p:nvPr/>
        </p:nvSpPr>
        <p:spPr>
          <a:xfrm>
            <a:off x="4389120" y="1645920"/>
            <a:ext cx="338328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023360"/>
          </a:xfrm>
          <a:prstGeom prst="rect">
            <a:avLst/>
          </a:prstGeom>
          <a:noFill/>
        </p:spPr>
        <p:txBody>
          <a:bodyPr wrap="square">
            <a:spAutoFit/>
          </a:bodyPr>
          <a:lstStyle/>
          <a:p>
            <a:pPr>
              <a:defRPr sz="1500" b="1">
                <a:solidFill>
                  <a:srgbClr val="0F172A"/>
                </a:solidFill>
                <a:latin typeface="Segoe UI"/>
              </a:defRPr>
            </a:pPr>
            <a:r>
              <a:t>Interactivity Engine</a:t>
            </a:r>
          </a:p>
          <a:p>
            <a:pPr>
              <a:spcBef>
                <a:spcPts val="1000"/>
              </a:spcBef>
              <a:defRPr sz="1100">
                <a:solidFill>
                  <a:srgbClr val="1E293B"/>
                </a:solidFill>
                <a:latin typeface="Segoe UI"/>
              </a:defRPr>
            </a:pPr>
            <a:r>
              <a:t>• Multi-Pivot Slicers: Filter connections enabling real-time drill-down by Property Type, Garage status, and Decade.</a:t>
            </a:r>
          </a:p>
          <a:p>
            <a:pPr>
              <a:spcBef>
                <a:spcPts val="1000"/>
              </a:spcBef>
              <a:defRPr sz="1100">
                <a:solidFill>
                  <a:srgbClr val="1E293B"/>
                </a:solidFill>
                <a:latin typeface="Segoe UI"/>
              </a:defRPr>
            </a:pPr>
            <a:r>
              <a:t>• Cross-Filtering: Adjusting any single slicer instantly cascades dynamic recalculations across all 10 pivot tables.</a:t>
            </a:r>
          </a:p>
          <a:p>
            <a:pPr>
              <a:spcBef>
                <a:spcPts val="1000"/>
              </a:spcBef>
              <a:defRPr sz="1100">
                <a:solidFill>
                  <a:srgbClr val="1E293B"/>
                </a:solidFill>
                <a:latin typeface="Segoe UI"/>
              </a:defRPr>
            </a:pPr>
            <a:r>
              <a:t>• Zero Latency: Optimized data tables structured for instant Excel recalculation without formula overhead.</a:t>
            </a:r>
          </a:p>
        </p:txBody>
      </p:sp>
      <p:sp>
        <p:nvSpPr>
          <p:cNvPr id="7" name="Rectangle 6"/>
          <p:cNvSpPr/>
          <p:nvPr/>
        </p:nvSpPr>
        <p:spPr>
          <a:xfrm>
            <a:off x="8046720" y="1645920"/>
            <a:ext cx="3383280" cy="4389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4023360"/>
          </a:xfrm>
          <a:prstGeom prst="rect">
            <a:avLst/>
          </a:prstGeom>
          <a:noFill/>
        </p:spPr>
        <p:txBody>
          <a:bodyPr wrap="square">
            <a:spAutoFit/>
          </a:bodyPr>
          <a:lstStyle/>
          <a:p>
            <a:pPr>
              <a:defRPr sz="1500" b="1">
                <a:solidFill>
                  <a:srgbClr val="0F172A"/>
                </a:solidFill>
                <a:latin typeface="Segoe UI"/>
              </a:defRPr>
            </a:pPr>
            <a:r>
              <a:t>Executive Experience</a:t>
            </a:r>
          </a:p>
          <a:p>
            <a:pPr>
              <a:spcBef>
                <a:spcPts val="1000"/>
              </a:spcBef>
              <a:defRPr sz="1100">
                <a:solidFill>
                  <a:srgbClr val="1E293B"/>
                </a:solidFill>
                <a:latin typeface="Segoe UI"/>
              </a:defRPr>
            </a:pPr>
            <a:r>
              <a:t>• Gridline Protection: Configured view panes and clean boundary framing eliminate spreadsheet visual clutter.</a:t>
            </a:r>
          </a:p>
          <a:p>
            <a:pPr>
              <a:spcBef>
                <a:spcPts val="1000"/>
              </a:spcBef>
              <a:defRPr sz="1100">
                <a:solidFill>
                  <a:srgbClr val="1E293B"/>
                </a:solidFill>
                <a:latin typeface="Segoe UI"/>
              </a:defRPr>
            </a:pPr>
            <a:r>
              <a:t>• Truncation Elimination: Column widths and chart labels formatted to prevent text clipping and numeric overflow.</a:t>
            </a:r>
          </a:p>
          <a:p>
            <a:pPr>
              <a:spcBef>
                <a:spcPts val="1000"/>
              </a:spcBef>
              <a:defRPr sz="1100">
                <a:solidFill>
                  <a:srgbClr val="1E293B"/>
                </a:solidFill>
                <a:latin typeface="Segoe UI"/>
              </a:defRPr>
            </a:pPr>
            <a:r>
              <a:t>• Presentation Ready: Designed for direct screen presentation in executive board meetings and investment committees.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F172A"/>
                </a:solidFill>
                <a:latin typeface="Segoe UI"/>
              </a:defRPr>
            </a:pPr>
            <a:r>
              <a:t>Strategic Recommendations for Real Estate Operators</a:t>
            </a:r>
          </a:p>
          <a:p>
            <a:pPr>
              <a:spcBef>
                <a:spcPts val="400"/>
              </a:spcBef>
              <a:defRPr sz="1300">
                <a:solidFill>
                  <a:srgbClr val="64748B"/>
                </a:solidFill>
                <a:latin typeface="Segoe UI"/>
              </a:defRPr>
            </a:pPr>
            <a:r>
              <a:t>Commercial guidance synthesized from statewide valuation and inventory metrics</a:t>
            </a:r>
          </a:p>
        </p:txBody>
      </p:sp>
      <p:sp>
        <p:nvSpPr>
          <p:cNvPr id="3" name="Rectangle 2"/>
          <p:cNvSpPr/>
          <p:nvPr/>
        </p:nvSpPr>
        <p:spPr>
          <a:xfrm>
            <a:off x="731520" y="1645920"/>
            <a:ext cx="10698480" cy="1280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83080"/>
            <a:ext cx="10149840" cy="1005840"/>
          </a:xfrm>
          <a:prstGeom prst="rect">
            <a:avLst/>
          </a:prstGeom>
          <a:noFill/>
        </p:spPr>
        <p:txBody>
          <a:bodyPr wrap="square">
            <a:spAutoFit/>
          </a:bodyPr>
          <a:lstStyle/>
          <a:p>
            <a:pPr>
              <a:defRPr sz="1300" b="1">
                <a:solidFill>
                  <a:srgbClr val="0F172A"/>
                </a:solidFill>
                <a:latin typeface="Segoe UI"/>
              </a:defRPr>
            </a:pPr>
            <a:r>
              <a:t>Recommendation 1: Value-Add Acquisition in Mid-Century Stock</a:t>
            </a:r>
          </a:p>
          <a:p>
            <a:pPr>
              <a:spcBef>
                <a:spcPts val="400"/>
              </a:spcBef>
              <a:defRPr sz="1000">
                <a:solidFill>
                  <a:srgbClr val="1E293B"/>
                </a:solidFill>
                <a:latin typeface="Segoe UI"/>
              </a:defRPr>
            </a:pPr>
            <a:r>
              <a:t>Target post-war inventory constructed between 1940 and 1960 currently trading at the market affordability floor ($535k average). By executing modernization capital expenditures (open-concept floor plans, primary suite additions, and garage additions), operators can capture the 40%+ valuation spread commanded by modern single-family stock.</a:t>
            </a:r>
          </a:p>
        </p:txBody>
      </p:sp>
      <p:sp>
        <p:nvSpPr>
          <p:cNvPr id="5" name="Rectangle 4"/>
          <p:cNvSpPr/>
          <p:nvPr/>
        </p:nvSpPr>
        <p:spPr>
          <a:xfrm>
            <a:off x="731520" y="3154680"/>
            <a:ext cx="10698480" cy="1280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291840"/>
            <a:ext cx="10149840" cy="1005840"/>
          </a:xfrm>
          <a:prstGeom prst="rect">
            <a:avLst/>
          </a:prstGeom>
          <a:noFill/>
        </p:spPr>
        <p:txBody>
          <a:bodyPr wrap="square">
            <a:spAutoFit/>
          </a:bodyPr>
          <a:lstStyle/>
          <a:p>
            <a:pPr>
              <a:defRPr sz="1300" b="1">
                <a:solidFill>
                  <a:srgbClr val="0F172A"/>
                </a:solidFill>
                <a:latin typeface="Segoe UI"/>
              </a:defRPr>
            </a:pPr>
            <a:r>
              <a:t>Recommendation 2: Density Infill Development via Townhomes</a:t>
            </a:r>
          </a:p>
          <a:p>
            <a:pPr>
              <a:spcBef>
                <a:spcPts val="400"/>
              </a:spcBef>
              <a:defRPr sz="1000">
                <a:solidFill>
                  <a:srgbClr val="1E293B"/>
                </a:solidFill>
                <a:latin typeface="Segoe UI"/>
              </a:defRPr>
            </a:pPr>
            <a:r>
              <a:t>With single-family prices averaging $745k, townhomes at $490k ($316/sqft) provide the highest absorption velocity among first-time buyers. Developers should prioritize multi-story attached units featuring attached garages (commanding an 86.5% preference rate) to maximize land yield while maintaining sub-$550k price points.</a:t>
            </a:r>
          </a:p>
        </p:txBody>
      </p:sp>
      <p:sp>
        <p:nvSpPr>
          <p:cNvPr id="7" name="Rectangle 6"/>
          <p:cNvSpPr/>
          <p:nvPr/>
        </p:nvSpPr>
        <p:spPr>
          <a:xfrm>
            <a:off x="731520" y="4663440"/>
            <a:ext cx="10698480" cy="128016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800600"/>
            <a:ext cx="10149840" cy="1005840"/>
          </a:xfrm>
          <a:prstGeom prst="rect">
            <a:avLst/>
          </a:prstGeom>
          <a:noFill/>
        </p:spPr>
        <p:txBody>
          <a:bodyPr wrap="square">
            <a:spAutoFit/>
          </a:bodyPr>
          <a:lstStyle/>
          <a:p>
            <a:pPr>
              <a:defRPr sz="1300" b="1">
                <a:solidFill>
                  <a:srgbClr val="0F172A"/>
                </a:solidFill>
                <a:latin typeface="Segoe UI"/>
              </a:defRPr>
            </a:pPr>
            <a:r>
              <a:t>Recommendation 3: Commercial Multi-Family Portfolio Scaling</a:t>
            </a:r>
          </a:p>
          <a:p>
            <a:pPr>
              <a:spcBef>
                <a:spcPts val="400"/>
              </a:spcBef>
              <a:defRPr sz="1000">
                <a:solidFill>
                  <a:srgbClr val="1E293B"/>
                </a:solidFill>
                <a:latin typeface="Segoe UI"/>
              </a:defRPr>
            </a:pPr>
            <a:r>
              <a:t>Multi-family properties offer the most favorable unit economics at $266.70 per square foot across an average 4,161 square foot footprint. Commercial investors should capitalize on this scale discount to acquire high-density residential assets before rent-growth compression further narrows margin spreads.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1828800"/>
            <a:ext cx="9875520" cy="3657600"/>
          </a:xfrm>
          <a:prstGeom prst="rect">
            <a:avLst/>
          </a:prstGeom>
          <a:noFill/>
        </p:spPr>
        <p:txBody>
          <a:bodyPr wrap="square">
            <a:spAutoFit/>
          </a:bodyPr>
          <a:lstStyle/>
          <a:p>
            <a:pPr>
              <a:defRPr sz="2800" b="1">
                <a:solidFill>
                  <a:srgbClr val="FFFFFF"/>
                </a:solidFill>
                <a:latin typeface="Segoe UI"/>
              </a:defRPr>
            </a:pPr>
            <a:r>
              <a:t>PROJECT DELIVERABLES AND CONTACT</a:t>
            </a:r>
          </a:p>
          <a:p>
            <a:pPr>
              <a:spcBef>
                <a:spcPts val="1200"/>
              </a:spcBef>
              <a:defRPr sz="1500">
                <a:solidFill>
                  <a:srgbClr val="94A3B8"/>
                </a:solidFill>
                <a:latin typeface="Segoe UI"/>
              </a:defRPr>
            </a:pPr>
            <a:r>
              <a:t>This analytical study forms part of the commercial intelligence and data analytics portfolio created by Mafeng Daniel.</a:t>
            </a:r>
          </a:p>
          <a:p>
            <a:pPr>
              <a:spcBef>
                <a:spcPts val="2000"/>
              </a:spcBef>
              <a:defRPr sz="1300">
                <a:solidFill>
                  <a:srgbClr val="CBD5E1"/>
                </a:solidFill>
                <a:latin typeface="Segoe UI"/>
              </a:defRPr>
            </a:pPr>
            <a:r>
              <a:t>Workbook Artifact: oregon_real_estate_2026_ultimate.xlsx</a:t>
            </a:r>
            <a:br/>
            <a:r>
              <a:t>Statewide Listings Analyzed: 9,999 properties</a:t>
            </a:r>
            <a:br/>
            <a:r>
              <a:t>Total Market Volume: $6,783,995,305</a:t>
            </a:r>
            <a:br/>
            <a:br/>
            <a:r>
              <a:t>GitHub Portfolio: Available in primary portfolio repository</a:t>
            </a:r>
            <a:br/>
            <a:r>
              <a:t>Direct Email: mafengdaniel15@gmail.com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